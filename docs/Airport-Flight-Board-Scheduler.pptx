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12192000"/>
  <p:embeddedFontLst>
    <p:embeddedFont>
      <p:font typeface="Bookman Old Style" panose="02050604050505020204" pitchFamily="18" charset="0"/>
      <p:regular r:id="rId16"/>
      <p:bold r:id="rId17"/>
      <p:italic r:id="rId18"/>
      <p:boldItalic r:id="rId19"/>
    </p:embeddedFont>
    <p:embeddedFont>
      <p:font typeface="Cascadia Code" panose="020B0609020000020004" pitchFamily="49" charset="0"/>
      <p:regular r:id="rId20"/>
      <p:bold r:id="rId21"/>
      <p:italic r:id="rId22"/>
      <p:boldItalic r:id="rId23"/>
    </p:embeddedFont>
    <p:embeddedFont>
      <p:font typeface="Inter" panose="020B0604020202020204" charset="0"/>
      <p:regular r:id="rId24"/>
    </p:embeddedFont>
    <p:embeddedFont>
      <p:font typeface="Inter Bold" panose="020B0604020202020204" charset="0"/>
      <p:regular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6931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41048-E07B-2D75-CA65-EA2AAB669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311727-D304-ED69-200A-1B5DD6AE8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31BE-CE55-5156-7043-00D4C48B9A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D81E3-F144-3A2C-6777-8341574FBE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318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2D2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99"/>
          </a:xfrm>
          <a:prstGeom prst="rect">
            <a:avLst/>
          </a:prstGeom>
          <a:solidFill>
            <a:srgbClr val="2D221B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01" cy="6858099"/>
          </a:xfrm>
          <a:prstGeom prst="rect">
            <a:avLst/>
          </a:prstGeom>
          <a:solidFill>
            <a:srgbClr val="C6B194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08789" y="2056991"/>
            <a:ext cx="6949504" cy="45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kern="100" spc="6" dirty="0">
                <a:solidFill>
                  <a:srgbClr val="FFFDF8"/>
                </a:solidFill>
                <a:latin typeface="Courier New" panose="02070309020205020404" pitchFamily="49" charset="0"/>
                <a:ea typeface="Inter Bold" pitchFamily="34" charset="-122"/>
                <a:cs typeface="Courier New" panose="02070309020205020404" pitchFamily="49" charset="0"/>
              </a:rPr>
              <a:t>Airport Flight</a:t>
            </a:r>
            <a:br>
              <a:rPr lang="en-US" sz="3200" b="1" kern="100" spc="6" dirty="0">
                <a:solidFill>
                  <a:srgbClr val="FFFDF8"/>
                </a:solidFill>
                <a:latin typeface="Courier New" panose="02070309020205020404" pitchFamily="49" charset="0"/>
                <a:ea typeface="Inter Bold" pitchFamily="34" charset="-122"/>
                <a:cs typeface="Courier New" panose="02070309020205020404" pitchFamily="49" charset="0"/>
              </a:rPr>
            </a:br>
            <a:r>
              <a:rPr lang="en-US" sz="3200" b="1" kern="100" spc="6" dirty="0">
                <a:solidFill>
                  <a:srgbClr val="FFFDF8"/>
                </a:solidFill>
                <a:latin typeface="Courier New" panose="02070309020205020404" pitchFamily="49" charset="0"/>
                <a:ea typeface="Inter Bold" pitchFamily="34" charset="-122"/>
                <a:cs typeface="Courier New" panose="02070309020205020404" pitchFamily="49" charset="0"/>
              </a:rPr>
              <a:t>       Board Scheduler</a:t>
            </a:r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50283" y="4016077"/>
            <a:ext cx="454162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kern="100" spc="-52" dirty="0">
                <a:solidFill>
                  <a:srgbClr val="C6B19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NUMBER 24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283" y="4664174"/>
            <a:ext cx="6217983" cy="466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550"/>
              </a:spcAft>
              <a:buNone/>
            </a:pPr>
            <a:r>
              <a:rPr lang="en-US" sz="1300" kern="100" spc="-64" dirty="0">
                <a:solidFill>
                  <a:srgbClr val="E0D6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G. Nagasai Sahasra - 2620030611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-64" dirty="0">
                <a:solidFill>
                  <a:srgbClr val="E0D6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K. Sai Rishika - 2620030331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283" y="6142534"/>
            <a:ext cx="54560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kern="100" spc="-36" dirty="0">
                <a:solidFill>
                  <a:srgbClr val="C6B19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PSPJ  PROJECT PRESENTATION</a:t>
            </a:r>
            <a:endParaRPr lang="en-US" sz="900" dirty="0"/>
          </a:p>
        </p:txBody>
      </p:sp>
      <p:pic>
        <p:nvPicPr>
          <p:cNvPr id="1026" name="Picture 2" descr="This may contain: an airplane taking off from the airport at night with its landing gear down and lights on">
            <a:extLst>
              <a:ext uri="{FF2B5EF4-FFF2-40B4-BE49-F238E27FC236}">
                <a16:creationId xmlns:a16="http://schemas.microsoft.com/office/drawing/2014/main" id="{889EF84E-FBF5-509A-AF90-AAF50CD4C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293" y="99"/>
            <a:ext cx="453370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FB7FF0-6408-88E7-7EA8-3739560923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513" y="105878"/>
            <a:ext cx="1435035" cy="7143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2057400"/>
            <a:ext cx="2514636" cy="3246239"/>
          </a:xfrm>
          <a:prstGeom prst="rect">
            <a:avLst/>
          </a:prstGeom>
          <a:solidFill>
            <a:srgbClr val="2D221B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566130" y="2057400"/>
            <a:ext cx="2514537" cy="3246239"/>
          </a:xfrm>
          <a:prstGeom prst="rect">
            <a:avLst/>
          </a:prstGeom>
          <a:solidFill>
            <a:srgbClr val="584333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46379" y="2057400"/>
            <a:ext cx="2514636" cy="3246239"/>
          </a:xfrm>
          <a:prstGeom prst="rect">
            <a:avLst/>
          </a:prstGeom>
          <a:solidFill>
            <a:srgbClr val="2D221B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25" y="2057400"/>
            <a:ext cx="2514537" cy="3246239"/>
          </a:xfrm>
          <a:prstGeom prst="rect">
            <a:avLst/>
          </a:prstGeom>
          <a:solidFill>
            <a:srgbClr val="584333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468" y="279896"/>
            <a:ext cx="424903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9945" y="846157"/>
            <a:ext cx="10881445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700" b="1" kern="100" spc="-109" dirty="0">
                <a:solidFill>
                  <a:srgbClr val="2D22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Abstract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35153" y="1424880"/>
            <a:ext cx="114910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kern="100" spc="-59" dirty="0">
                <a:solidFill>
                  <a:srgbClr val="685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 at a glance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783" y="5184775"/>
            <a:ext cx="2514537" cy="118864"/>
          </a:xfrm>
          <a:prstGeom prst="rect">
            <a:avLst/>
          </a:prstGeom>
          <a:solidFill>
            <a:srgbClr val="584333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50283" y="2253456"/>
            <a:ext cx="2185338" cy="10120"/>
          </a:xfrm>
          <a:prstGeom prst="rect">
            <a:avLst/>
          </a:prstGeom>
          <a:solidFill>
            <a:srgbClr val="8F7A65"/>
          </a:solidFill>
          <a:ln/>
        </p:spPr>
      </p:sp>
      <p:sp>
        <p:nvSpPr>
          <p:cNvPr id="12" name="Shape 10"/>
          <p:cNvSpPr/>
          <p:nvPr/>
        </p:nvSpPr>
        <p:spPr>
          <a:xfrm>
            <a:off x="1462944" y="2450505"/>
            <a:ext cx="960017" cy="960041"/>
          </a:xfrm>
          <a:prstGeom prst="ellipse">
            <a:avLst/>
          </a:prstGeom>
          <a:solidFill>
            <a:srgbClr val="8F7A65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52605" y="3227884"/>
            <a:ext cx="1389821" cy="932656"/>
          </a:xfrm>
          <a:custGeom>
            <a:avLst/>
            <a:gdLst/>
            <a:ahLst/>
            <a:cxnLst/>
            <a:rect l="l" t="t" r="r" b="b"/>
            <a:pathLst>
              <a:path w="1389821" h="932656">
                <a:moveTo>
                  <a:pt x="694911" y="0"/>
                </a:moveTo>
                <a:lnTo>
                  <a:pt x="719094" y="280"/>
                </a:lnTo>
                <a:lnTo>
                  <a:pt x="743416" y="1119"/>
                </a:lnTo>
                <a:lnTo>
                  <a:pt x="767598" y="2518"/>
                </a:lnTo>
                <a:lnTo>
                  <a:pt x="791642" y="4570"/>
                </a:lnTo>
                <a:lnTo>
                  <a:pt x="815547" y="7088"/>
                </a:lnTo>
                <a:lnTo>
                  <a:pt x="839452" y="10166"/>
                </a:lnTo>
                <a:lnTo>
                  <a:pt x="863079" y="13897"/>
                </a:lnTo>
                <a:lnTo>
                  <a:pt x="886428" y="18094"/>
                </a:lnTo>
                <a:lnTo>
                  <a:pt x="909638" y="22850"/>
                </a:lnTo>
                <a:lnTo>
                  <a:pt x="932570" y="28166"/>
                </a:lnTo>
                <a:lnTo>
                  <a:pt x="955224" y="33949"/>
                </a:lnTo>
                <a:lnTo>
                  <a:pt x="977600" y="40291"/>
                </a:lnTo>
                <a:lnTo>
                  <a:pt x="999560" y="47192"/>
                </a:lnTo>
                <a:lnTo>
                  <a:pt x="1021102" y="54560"/>
                </a:lnTo>
                <a:lnTo>
                  <a:pt x="1042366" y="62488"/>
                </a:lnTo>
                <a:lnTo>
                  <a:pt x="1063213" y="70882"/>
                </a:lnTo>
                <a:lnTo>
                  <a:pt x="1083505" y="79742"/>
                </a:lnTo>
                <a:lnTo>
                  <a:pt x="1103379" y="89069"/>
                </a:lnTo>
                <a:lnTo>
                  <a:pt x="1122698" y="98862"/>
                </a:lnTo>
                <a:lnTo>
                  <a:pt x="1141599" y="109121"/>
                </a:lnTo>
                <a:lnTo>
                  <a:pt x="1159945" y="119753"/>
                </a:lnTo>
                <a:lnTo>
                  <a:pt x="1177596" y="130852"/>
                </a:lnTo>
                <a:lnTo>
                  <a:pt x="1194830" y="142417"/>
                </a:lnTo>
                <a:lnTo>
                  <a:pt x="1211368" y="154261"/>
                </a:lnTo>
                <a:lnTo>
                  <a:pt x="1227212" y="166572"/>
                </a:lnTo>
                <a:lnTo>
                  <a:pt x="1242500" y="179257"/>
                </a:lnTo>
                <a:lnTo>
                  <a:pt x="1257094" y="192220"/>
                </a:lnTo>
                <a:lnTo>
                  <a:pt x="1270992" y="205557"/>
                </a:lnTo>
                <a:lnTo>
                  <a:pt x="1284195" y="219174"/>
                </a:lnTo>
                <a:lnTo>
                  <a:pt x="1296703" y="233164"/>
                </a:lnTo>
                <a:lnTo>
                  <a:pt x="1308517" y="247434"/>
                </a:lnTo>
                <a:lnTo>
                  <a:pt x="1319497" y="261890"/>
                </a:lnTo>
                <a:lnTo>
                  <a:pt x="1329781" y="276626"/>
                </a:lnTo>
                <a:lnTo>
                  <a:pt x="1339232" y="291642"/>
                </a:lnTo>
                <a:lnTo>
                  <a:pt x="1347849" y="306844"/>
                </a:lnTo>
                <a:lnTo>
                  <a:pt x="1355771" y="322233"/>
                </a:lnTo>
                <a:lnTo>
                  <a:pt x="1362859" y="337808"/>
                </a:lnTo>
                <a:lnTo>
                  <a:pt x="1369113" y="353477"/>
                </a:lnTo>
                <a:lnTo>
                  <a:pt x="1374672" y="369332"/>
                </a:lnTo>
                <a:lnTo>
                  <a:pt x="1379259" y="385374"/>
                </a:lnTo>
                <a:lnTo>
                  <a:pt x="1383011" y="401415"/>
                </a:lnTo>
                <a:lnTo>
                  <a:pt x="1386069" y="417550"/>
                </a:lnTo>
                <a:lnTo>
                  <a:pt x="1388154" y="433778"/>
                </a:lnTo>
                <a:lnTo>
                  <a:pt x="1389405" y="450100"/>
                </a:lnTo>
                <a:lnTo>
                  <a:pt x="1389821" y="466328"/>
                </a:lnTo>
                <a:lnTo>
                  <a:pt x="1077112" y="466328"/>
                </a:lnTo>
                <a:lnTo>
                  <a:pt x="1076834" y="457375"/>
                </a:lnTo>
                <a:lnTo>
                  <a:pt x="1076139" y="448421"/>
                </a:lnTo>
                <a:lnTo>
                  <a:pt x="1075027" y="439561"/>
                </a:lnTo>
                <a:lnTo>
                  <a:pt x="1073359" y="430607"/>
                </a:lnTo>
                <a:lnTo>
                  <a:pt x="1071274" y="421747"/>
                </a:lnTo>
                <a:lnTo>
                  <a:pt x="1068773" y="412980"/>
                </a:lnTo>
                <a:lnTo>
                  <a:pt x="1065715" y="404306"/>
                </a:lnTo>
                <a:lnTo>
                  <a:pt x="1062241" y="395633"/>
                </a:lnTo>
                <a:lnTo>
                  <a:pt x="1058349" y="387052"/>
                </a:lnTo>
                <a:lnTo>
                  <a:pt x="1054041" y="378565"/>
                </a:lnTo>
                <a:lnTo>
                  <a:pt x="1049315" y="370265"/>
                </a:lnTo>
                <a:lnTo>
                  <a:pt x="1044034" y="361964"/>
                </a:lnTo>
                <a:lnTo>
                  <a:pt x="1038475" y="353850"/>
                </a:lnTo>
                <a:lnTo>
                  <a:pt x="1032359" y="345922"/>
                </a:lnTo>
                <a:lnTo>
                  <a:pt x="1025966" y="338088"/>
                </a:lnTo>
                <a:lnTo>
                  <a:pt x="1019017" y="330440"/>
                </a:lnTo>
                <a:lnTo>
                  <a:pt x="1011790" y="322886"/>
                </a:lnTo>
                <a:lnTo>
                  <a:pt x="1004146" y="315611"/>
                </a:lnTo>
                <a:lnTo>
                  <a:pt x="996085" y="308429"/>
                </a:lnTo>
                <a:lnTo>
                  <a:pt x="987746" y="301435"/>
                </a:lnTo>
                <a:lnTo>
                  <a:pt x="978990" y="294719"/>
                </a:lnTo>
                <a:lnTo>
                  <a:pt x="969817" y="288191"/>
                </a:lnTo>
                <a:lnTo>
                  <a:pt x="960367" y="281849"/>
                </a:lnTo>
                <a:lnTo>
                  <a:pt x="950638" y="275693"/>
                </a:lnTo>
                <a:lnTo>
                  <a:pt x="940631" y="269817"/>
                </a:lnTo>
                <a:lnTo>
                  <a:pt x="930208" y="264222"/>
                </a:lnTo>
                <a:lnTo>
                  <a:pt x="919506" y="258812"/>
                </a:lnTo>
                <a:lnTo>
                  <a:pt x="908665" y="253683"/>
                </a:lnTo>
                <a:lnTo>
                  <a:pt x="897408" y="248833"/>
                </a:lnTo>
                <a:lnTo>
                  <a:pt x="886011" y="244169"/>
                </a:lnTo>
                <a:lnTo>
                  <a:pt x="874337" y="239879"/>
                </a:lnTo>
                <a:lnTo>
                  <a:pt x="862523" y="235776"/>
                </a:lnTo>
                <a:lnTo>
                  <a:pt x="850432" y="232045"/>
                </a:lnTo>
                <a:lnTo>
                  <a:pt x="838062" y="228501"/>
                </a:lnTo>
                <a:lnTo>
                  <a:pt x="825693" y="225330"/>
                </a:lnTo>
                <a:lnTo>
                  <a:pt x="813046" y="222439"/>
                </a:lnTo>
                <a:lnTo>
                  <a:pt x="800259" y="219827"/>
                </a:lnTo>
                <a:lnTo>
                  <a:pt x="787334" y="217495"/>
                </a:lnTo>
                <a:lnTo>
                  <a:pt x="774409" y="215444"/>
                </a:lnTo>
                <a:lnTo>
                  <a:pt x="761344" y="213765"/>
                </a:lnTo>
                <a:lnTo>
                  <a:pt x="748141" y="212366"/>
                </a:lnTo>
                <a:lnTo>
                  <a:pt x="734799" y="211247"/>
                </a:lnTo>
                <a:lnTo>
                  <a:pt x="721595" y="210501"/>
                </a:lnTo>
                <a:lnTo>
                  <a:pt x="708253" y="210034"/>
                </a:lnTo>
                <a:lnTo>
                  <a:pt x="694911" y="209848"/>
                </a:lnTo>
                <a:close/>
              </a:path>
            </a:pathLst>
          </a:custGeom>
          <a:solidFill>
            <a:srgbClr val="C6B194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783" y="4418409"/>
            <a:ext cx="251463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kern="100" spc="-52" dirty="0">
                <a:solidFill>
                  <a:srgbClr val="FFFDF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PURPOSE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783" y="4787999"/>
            <a:ext cx="251463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kern="100" spc="-49" dirty="0">
                <a:solidFill>
                  <a:srgbClr val="E0D6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and track flights.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30" y="5184775"/>
            <a:ext cx="2514537" cy="118864"/>
          </a:xfrm>
          <a:prstGeom prst="rect">
            <a:avLst/>
          </a:prstGeom>
          <a:solidFill>
            <a:srgbClr val="584333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30631" y="2253456"/>
            <a:ext cx="2185338" cy="10120"/>
          </a:xfrm>
          <a:prstGeom prst="rect">
            <a:avLst/>
          </a:prstGeom>
          <a:solidFill>
            <a:srgbClr val="8F7A65"/>
          </a:solidFill>
          <a:ln/>
        </p:spPr>
      </p:sp>
      <p:sp>
        <p:nvSpPr>
          <p:cNvPr id="18" name="Shape 16"/>
          <p:cNvSpPr/>
          <p:nvPr/>
        </p:nvSpPr>
        <p:spPr>
          <a:xfrm>
            <a:off x="4343291" y="2450505"/>
            <a:ext cx="960017" cy="960041"/>
          </a:xfrm>
          <a:prstGeom prst="ellipse">
            <a:avLst/>
          </a:prstGeom>
          <a:solidFill>
            <a:srgbClr val="8F7A65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32953" y="3227884"/>
            <a:ext cx="1389821" cy="932656"/>
          </a:xfrm>
          <a:custGeom>
            <a:avLst/>
            <a:gdLst/>
            <a:ahLst/>
            <a:cxnLst/>
            <a:rect l="l" t="t" r="r" b="b"/>
            <a:pathLst>
              <a:path w="1389821" h="932656">
                <a:moveTo>
                  <a:pt x="694911" y="0"/>
                </a:moveTo>
                <a:lnTo>
                  <a:pt x="719094" y="280"/>
                </a:lnTo>
                <a:lnTo>
                  <a:pt x="743416" y="1119"/>
                </a:lnTo>
                <a:lnTo>
                  <a:pt x="767598" y="2518"/>
                </a:lnTo>
                <a:lnTo>
                  <a:pt x="791642" y="4570"/>
                </a:lnTo>
                <a:lnTo>
                  <a:pt x="815547" y="7088"/>
                </a:lnTo>
                <a:lnTo>
                  <a:pt x="839452" y="10166"/>
                </a:lnTo>
                <a:lnTo>
                  <a:pt x="863079" y="13897"/>
                </a:lnTo>
                <a:lnTo>
                  <a:pt x="886428" y="18094"/>
                </a:lnTo>
                <a:lnTo>
                  <a:pt x="909638" y="22850"/>
                </a:lnTo>
                <a:lnTo>
                  <a:pt x="932570" y="28166"/>
                </a:lnTo>
                <a:lnTo>
                  <a:pt x="955224" y="33949"/>
                </a:lnTo>
                <a:lnTo>
                  <a:pt x="977600" y="40291"/>
                </a:lnTo>
                <a:lnTo>
                  <a:pt x="999560" y="47192"/>
                </a:lnTo>
                <a:lnTo>
                  <a:pt x="1021102" y="54560"/>
                </a:lnTo>
                <a:lnTo>
                  <a:pt x="1042366" y="62488"/>
                </a:lnTo>
                <a:lnTo>
                  <a:pt x="1063213" y="70882"/>
                </a:lnTo>
                <a:lnTo>
                  <a:pt x="1083505" y="79742"/>
                </a:lnTo>
                <a:lnTo>
                  <a:pt x="1103379" y="89069"/>
                </a:lnTo>
                <a:lnTo>
                  <a:pt x="1122698" y="98862"/>
                </a:lnTo>
                <a:lnTo>
                  <a:pt x="1141599" y="109121"/>
                </a:lnTo>
                <a:lnTo>
                  <a:pt x="1159945" y="119753"/>
                </a:lnTo>
                <a:lnTo>
                  <a:pt x="1177596" y="130852"/>
                </a:lnTo>
                <a:lnTo>
                  <a:pt x="1194830" y="142417"/>
                </a:lnTo>
                <a:lnTo>
                  <a:pt x="1211368" y="154261"/>
                </a:lnTo>
                <a:lnTo>
                  <a:pt x="1227212" y="166572"/>
                </a:lnTo>
                <a:lnTo>
                  <a:pt x="1242500" y="179257"/>
                </a:lnTo>
                <a:lnTo>
                  <a:pt x="1257094" y="192220"/>
                </a:lnTo>
                <a:lnTo>
                  <a:pt x="1270992" y="205557"/>
                </a:lnTo>
                <a:lnTo>
                  <a:pt x="1284195" y="219174"/>
                </a:lnTo>
                <a:lnTo>
                  <a:pt x="1296703" y="233164"/>
                </a:lnTo>
                <a:lnTo>
                  <a:pt x="1308517" y="247434"/>
                </a:lnTo>
                <a:lnTo>
                  <a:pt x="1319497" y="261890"/>
                </a:lnTo>
                <a:lnTo>
                  <a:pt x="1329781" y="276626"/>
                </a:lnTo>
                <a:lnTo>
                  <a:pt x="1339232" y="291642"/>
                </a:lnTo>
                <a:lnTo>
                  <a:pt x="1347849" y="306844"/>
                </a:lnTo>
                <a:lnTo>
                  <a:pt x="1355771" y="322233"/>
                </a:lnTo>
                <a:lnTo>
                  <a:pt x="1362859" y="337808"/>
                </a:lnTo>
                <a:lnTo>
                  <a:pt x="1369113" y="353477"/>
                </a:lnTo>
                <a:lnTo>
                  <a:pt x="1374672" y="369332"/>
                </a:lnTo>
                <a:lnTo>
                  <a:pt x="1379259" y="385374"/>
                </a:lnTo>
                <a:lnTo>
                  <a:pt x="1383011" y="401415"/>
                </a:lnTo>
                <a:lnTo>
                  <a:pt x="1386069" y="417550"/>
                </a:lnTo>
                <a:lnTo>
                  <a:pt x="1388154" y="433778"/>
                </a:lnTo>
                <a:lnTo>
                  <a:pt x="1389405" y="450100"/>
                </a:lnTo>
                <a:lnTo>
                  <a:pt x="1389821" y="466328"/>
                </a:lnTo>
                <a:lnTo>
                  <a:pt x="1077112" y="466328"/>
                </a:lnTo>
                <a:lnTo>
                  <a:pt x="1076834" y="457375"/>
                </a:lnTo>
                <a:lnTo>
                  <a:pt x="1076139" y="448421"/>
                </a:lnTo>
                <a:lnTo>
                  <a:pt x="1075027" y="439561"/>
                </a:lnTo>
                <a:lnTo>
                  <a:pt x="1073359" y="430607"/>
                </a:lnTo>
                <a:lnTo>
                  <a:pt x="1071274" y="421747"/>
                </a:lnTo>
                <a:lnTo>
                  <a:pt x="1068773" y="412980"/>
                </a:lnTo>
                <a:lnTo>
                  <a:pt x="1065715" y="404306"/>
                </a:lnTo>
                <a:lnTo>
                  <a:pt x="1062241" y="395633"/>
                </a:lnTo>
                <a:lnTo>
                  <a:pt x="1058349" y="387052"/>
                </a:lnTo>
                <a:lnTo>
                  <a:pt x="1054041" y="378565"/>
                </a:lnTo>
                <a:lnTo>
                  <a:pt x="1049315" y="370265"/>
                </a:lnTo>
                <a:lnTo>
                  <a:pt x="1044034" y="361964"/>
                </a:lnTo>
                <a:lnTo>
                  <a:pt x="1038475" y="353850"/>
                </a:lnTo>
                <a:lnTo>
                  <a:pt x="1032359" y="345922"/>
                </a:lnTo>
                <a:lnTo>
                  <a:pt x="1025966" y="338088"/>
                </a:lnTo>
                <a:lnTo>
                  <a:pt x="1019017" y="330440"/>
                </a:lnTo>
                <a:lnTo>
                  <a:pt x="1011790" y="322886"/>
                </a:lnTo>
                <a:lnTo>
                  <a:pt x="1004146" y="315611"/>
                </a:lnTo>
                <a:lnTo>
                  <a:pt x="996085" y="308429"/>
                </a:lnTo>
                <a:lnTo>
                  <a:pt x="987746" y="301435"/>
                </a:lnTo>
                <a:lnTo>
                  <a:pt x="978990" y="294719"/>
                </a:lnTo>
                <a:lnTo>
                  <a:pt x="969817" y="288191"/>
                </a:lnTo>
                <a:lnTo>
                  <a:pt x="960367" y="281849"/>
                </a:lnTo>
                <a:lnTo>
                  <a:pt x="950638" y="275693"/>
                </a:lnTo>
                <a:lnTo>
                  <a:pt x="940631" y="269817"/>
                </a:lnTo>
                <a:lnTo>
                  <a:pt x="930208" y="264222"/>
                </a:lnTo>
                <a:lnTo>
                  <a:pt x="919506" y="258812"/>
                </a:lnTo>
                <a:lnTo>
                  <a:pt x="908665" y="253683"/>
                </a:lnTo>
                <a:lnTo>
                  <a:pt x="897408" y="248833"/>
                </a:lnTo>
                <a:lnTo>
                  <a:pt x="886011" y="244169"/>
                </a:lnTo>
                <a:lnTo>
                  <a:pt x="874337" y="239879"/>
                </a:lnTo>
                <a:lnTo>
                  <a:pt x="862523" y="235776"/>
                </a:lnTo>
                <a:lnTo>
                  <a:pt x="850432" y="232045"/>
                </a:lnTo>
                <a:lnTo>
                  <a:pt x="838062" y="228501"/>
                </a:lnTo>
                <a:lnTo>
                  <a:pt x="825693" y="225330"/>
                </a:lnTo>
                <a:lnTo>
                  <a:pt x="813046" y="222439"/>
                </a:lnTo>
                <a:lnTo>
                  <a:pt x="800259" y="219827"/>
                </a:lnTo>
                <a:lnTo>
                  <a:pt x="787334" y="217495"/>
                </a:lnTo>
                <a:lnTo>
                  <a:pt x="774409" y="215444"/>
                </a:lnTo>
                <a:lnTo>
                  <a:pt x="761344" y="213765"/>
                </a:lnTo>
                <a:lnTo>
                  <a:pt x="748141" y="212366"/>
                </a:lnTo>
                <a:lnTo>
                  <a:pt x="734799" y="211247"/>
                </a:lnTo>
                <a:lnTo>
                  <a:pt x="721595" y="210501"/>
                </a:lnTo>
                <a:lnTo>
                  <a:pt x="708253" y="210034"/>
                </a:lnTo>
                <a:lnTo>
                  <a:pt x="694911" y="209848"/>
                </a:lnTo>
                <a:close/>
              </a:path>
            </a:pathLst>
          </a:custGeom>
          <a:solidFill>
            <a:srgbClr val="C6B194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66130" y="4418409"/>
            <a:ext cx="251453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kern="100" spc="-52" dirty="0">
                <a:solidFill>
                  <a:srgbClr val="FFFDF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66130" y="4787999"/>
            <a:ext cx="251453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kern="100" spc="-49" dirty="0">
                <a:solidFill>
                  <a:srgbClr val="E0D6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Flight data and board display.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46379" y="5184775"/>
            <a:ext cx="2514537" cy="118864"/>
          </a:xfrm>
          <a:prstGeom prst="rect">
            <a:avLst/>
          </a:prstGeom>
          <a:solidFill>
            <a:srgbClr val="584333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10879" y="2253456"/>
            <a:ext cx="2185338" cy="10120"/>
          </a:xfrm>
          <a:prstGeom prst="rect">
            <a:avLst/>
          </a:prstGeom>
          <a:solidFill>
            <a:srgbClr val="8F7A65"/>
          </a:solidFill>
          <a:ln/>
        </p:spPr>
      </p:sp>
      <p:sp>
        <p:nvSpPr>
          <p:cNvPr id="24" name="Shape 22"/>
          <p:cNvSpPr/>
          <p:nvPr/>
        </p:nvSpPr>
        <p:spPr>
          <a:xfrm>
            <a:off x="7223540" y="2450505"/>
            <a:ext cx="960017" cy="960041"/>
          </a:xfrm>
          <a:prstGeom prst="ellipse">
            <a:avLst/>
          </a:prstGeom>
          <a:solidFill>
            <a:srgbClr val="8F7A65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13201" y="3227884"/>
            <a:ext cx="1389821" cy="932656"/>
          </a:xfrm>
          <a:custGeom>
            <a:avLst/>
            <a:gdLst/>
            <a:ahLst/>
            <a:cxnLst/>
            <a:rect l="l" t="t" r="r" b="b"/>
            <a:pathLst>
              <a:path w="1389821" h="932656">
                <a:moveTo>
                  <a:pt x="694911" y="0"/>
                </a:moveTo>
                <a:lnTo>
                  <a:pt x="719094" y="280"/>
                </a:lnTo>
                <a:lnTo>
                  <a:pt x="743416" y="1119"/>
                </a:lnTo>
                <a:lnTo>
                  <a:pt x="767598" y="2518"/>
                </a:lnTo>
                <a:lnTo>
                  <a:pt x="791642" y="4570"/>
                </a:lnTo>
                <a:lnTo>
                  <a:pt x="815547" y="7088"/>
                </a:lnTo>
                <a:lnTo>
                  <a:pt x="839452" y="10166"/>
                </a:lnTo>
                <a:lnTo>
                  <a:pt x="863079" y="13897"/>
                </a:lnTo>
                <a:lnTo>
                  <a:pt x="886428" y="18094"/>
                </a:lnTo>
                <a:lnTo>
                  <a:pt x="909638" y="22850"/>
                </a:lnTo>
                <a:lnTo>
                  <a:pt x="932570" y="28166"/>
                </a:lnTo>
                <a:lnTo>
                  <a:pt x="955224" y="33949"/>
                </a:lnTo>
                <a:lnTo>
                  <a:pt x="977600" y="40291"/>
                </a:lnTo>
                <a:lnTo>
                  <a:pt x="999560" y="47192"/>
                </a:lnTo>
                <a:lnTo>
                  <a:pt x="1021102" y="54560"/>
                </a:lnTo>
                <a:lnTo>
                  <a:pt x="1042366" y="62488"/>
                </a:lnTo>
                <a:lnTo>
                  <a:pt x="1063213" y="70882"/>
                </a:lnTo>
                <a:lnTo>
                  <a:pt x="1083505" y="79742"/>
                </a:lnTo>
                <a:lnTo>
                  <a:pt x="1103379" y="89069"/>
                </a:lnTo>
                <a:lnTo>
                  <a:pt x="1122698" y="98862"/>
                </a:lnTo>
                <a:lnTo>
                  <a:pt x="1141599" y="109121"/>
                </a:lnTo>
                <a:lnTo>
                  <a:pt x="1159945" y="119753"/>
                </a:lnTo>
                <a:lnTo>
                  <a:pt x="1177596" y="130852"/>
                </a:lnTo>
                <a:lnTo>
                  <a:pt x="1194830" y="142417"/>
                </a:lnTo>
                <a:lnTo>
                  <a:pt x="1211368" y="154261"/>
                </a:lnTo>
                <a:lnTo>
                  <a:pt x="1227212" y="166572"/>
                </a:lnTo>
                <a:lnTo>
                  <a:pt x="1242500" y="179257"/>
                </a:lnTo>
                <a:lnTo>
                  <a:pt x="1257094" y="192220"/>
                </a:lnTo>
                <a:lnTo>
                  <a:pt x="1270992" y="205557"/>
                </a:lnTo>
                <a:lnTo>
                  <a:pt x="1284195" y="219174"/>
                </a:lnTo>
                <a:lnTo>
                  <a:pt x="1296703" y="233164"/>
                </a:lnTo>
                <a:lnTo>
                  <a:pt x="1308517" y="247434"/>
                </a:lnTo>
                <a:lnTo>
                  <a:pt x="1319497" y="261890"/>
                </a:lnTo>
                <a:lnTo>
                  <a:pt x="1329781" y="276626"/>
                </a:lnTo>
                <a:lnTo>
                  <a:pt x="1339232" y="291642"/>
                </a:lnTo>
                <a:lnTo>
                  <a:pt x="1347849" y="306844"/>
                </a:lnTo>
                <a:lnTo>
                  <a:pt x="1355771" y="322233"/>
                </a:lnTo>
                <a:lnTo>
                  <a:pt x="1362859" y="337808"/>
                </a:lnTo>
                <a:lnTo>
                  <a:pt x="1369113" y="353477"/>
                </a:lnTo>
                <a:lnTo>
                  <a:pt x="1374672" y="369332"/>
                </a:lnTo>
                <a:lnTo>
                  <a:pt x="1379259" y="385374"/>
                </a:lnTo>
                <a:lnTo>
                  <a:pt x="1383011" y="401415"/>
                </a:lnTo>
                <a:lnTo>
                  <a:pt x="1386069" y="417550"/>
                </a:lnTo>
                <a:lnTo>
                  <a:pt x="1388154" y="433778"/>
                </a:lnTo>
                <a:lnTo>
                  <a:pt x="1389405" y="450100"/>
                </a:lnTo>
                <a:lnTo>
                  <a:pt x="1389821" y="466328"/>
                </a:lnTo>
                <a:lnTo>
                  <a:pt x="1077112" y="466328"/>
                </a:lnTo>
                <a:lnTo>
                  <a:pt x="1076834" y="457375"/>
                </a:lnTo>
                <a:lnTo>
                  <a:pt x="1076139" y="448421"/>
                </a:lnTo>
                <a:lnTo>
                  <a:pt x="1075027" y="439561"/>
                </a:lnTo>
                <a:lnTo>
                  <a:pt x="1073359" y="430607"/>
                </a:lnTo>
                <a:lnTo>
                  <a:pt x="1071274" y="421747"/>
                </a:lnTo>
                <a:lnTo>
                  <a:pt x="1068773" y="412980"/>
                </a:lnTo>
                <a:lnTo>
                  <a:pt x="1065715" y="404306"/>
                </a:lnTo>
                <a:lnTo>
                  <a:pt x="1062241" y="395633"/>
                </a:lnTo>
                <a:lnTo>
                  <a:pt x="1058349" y="387052"/>
                </a:lnTo>
                <a:lnTo>
                  <a:pt x="1054041" y="378565"/>
                </a:lnTo>
                <a:lnTo>
                  <a:pt x="1049315" y="370265"/>
                </a:lnTo>
                <a:lnTo>
                  <a:pt x="1044034" y="361964"/>
                </a:lnTo>
                <a:lnTo>
                  <a:pt x="1038475" y="353850"/>
                </a:lnTo>
                <a:lnTo>
                  <a:pt x="1032359" y="345922"/>
                </a:lnTo>
                <a:lnTo>
                  <a:pt x="1025966" y="338088"/>
                </a:lnTo>
                <a:lnTo>
                  <a:pt x="1019017" y="330440"/>
                </a:lnTo>
                <a:lnTo>
                  <a:pt x="1011790" y="322886"/>
                </a:lnTo>
                <a:lnTo>
                  <a:pt x="1004146" y="315611"/>
                </a:lnTo>
                <a:lnTo>
                  <a:pt x="996085" y="308429"/>
                </a:lnTo>
                <a:lnTo>
                  <a:pt x="987746" y="301435"/>
                </a:lnTo>
                <a:lnTo>
                  <a:pt x="978990" y="294719"/>
                </a:lnTo>
                <a:lnTo>
                  <a:pt x="969817" y="288191"/>
                </a:lnTo>
                <a:lnTo>
                  <a:pt x="960367" y="281849"/>
                </a:lnTo>
                <a:lnTo>
                  <a:pt x="950638" y="275693"/>
                </a:lnTo>
                <a:lnTo>
                  <a:pt x="940631" y="269817"/>
                </a:lnTo>
                <a:lnTo>
                  <a:pt x="930208" y="264222"/>
                </a:lnTo>
                <a:lnTo>
                  <a:pt x="919506" y="258812"/>
                </a:lnTo>
                <a:lnTo>
                  <a:pt x="908665" y="253683"/>
                </a:lnTo>
                <a:lnTo>
                  <a:pt x="897408" y="248833"/>
                </a:lnTo>
                <a:lnTo>
                  <a:pt x="886011" y="244169"/>
                </a:lnTo>
                <a:lnTo>
                  <a:pt x="874337" y="239879"/>
                </a:lnTo>
                <a:lnTo>
                  <a:pt x="862523" y="235776"/>
                </a:lnTo>
                <a:lnTo>
                  <a:pt x="850432" y="232045"/>
                </a:lnTo>
                <a:lnTo>
                  <a:pt x="838062" y="228501"/>
                </a:lnTo>
                <a:lnTo>
                  <a:pt x="825693" y="225330"/>
                </a:lnTo>
                <a:lnTo>
                  <a:pt x="813046" y="222439"/>
                </a:lnTo>
                <a:lnTo>
                  <a:pt x="800259" y="219827"/>
                </a:lnTo>
                <a:lnTo>
                  <a:pt x="787334" y="217495"/>
                </a:lnTo>
                <a:lnTo>
                  <a:pt x="774409" y="215444"/>
                </a:lnTo>
                <a:lnTo>
                  <a:pt x="761344" y="213765"/>
                </a:lnTo>
                <a:lnTo>
                  <a:pt x="748141" y="212366"/>
                </a:lnTo>
                <a:lnTo>
                  <a:pt x="734799" y="211247"/>
                </a:lnTo>
                <a:lnTo>
                  <a:pt x="721595" y="210501"/>
                </a:lnTo>
                <a:lnTo>
                  <a:pt x="708253" y="210034"/>
                </a:lnTo>
                <a:lnTo>
                  <a:pt x="694911" y="209848"/>
                </a:lnTo>
                <a:close/>
              </a:path>
            </a:pathLst>
          </a:custGeom>
          <a:solidFill>
            <a:srgbClr val="C6B194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46379" y="4418409"/>
            <a:ext cx="251463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kern="100" spc="-52" dirty="0">
                <a:solidFill>
                  <a:srgbClr val="FFFDF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APPROACH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46379" y="4787999"/>
            <a:ext cx="251463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kern="100" spc="-49" dirty="0">
                <a:solidFill>
                  <a:srgbClr val="E0D6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as a Java program.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326825" y="5184775"/>
            <a:ext cx="2514537" cy="118864"/>
          </a:xfrm>
          <a:prstGeom prst="rect">
            <a:avLst/>
          </a:prstGeom>
          <a:solidFill>
            <a:srgbClr val="584333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491326" y="2253456"/>
            <a:ext cx="2185338" cy="10120"/>
          </a:xfrm>
          <a:prstGeom prst="rect">
            <a:avLst/>
          </a:prstGeom>
          <a:solidFill>
            <a:srgbClr val="8F7A65"/>
          </a:solidFill>
          <a:ln/>
        </p:spPr>
      </p:sp>
      <p:sp>
        <p:nvSpPr>
          <p:cNvPr id="30" name="Shape 28"/>
          <p:cNvSpPr/>
          <p:nvPr/>
        </p:nvSpPr>
        <p:spPr>
          <a:xfrm>
            <a:off x="10103986" y="2450505"/>
            <a:ext cx="960017" cy="960041"/>
          </a:xfrm>
          <a:prstGeom prst="ellipse">
            <a:avLst/>
          </a:prstGeom>
          <a:solidFill>
            <a:srgbClr val="8F7A65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893648" y="3227884"/>
            <a:ext cx="1389821" cy="932656"/>
          </a:xfrm>
          <a:custGeom>
            <a:avLst/>
            <a:gdLst/>
            <a:ahLst/>
            <a:cxnLst/>
            <a:rect l="l" t="t" r="r" b="b"/>
            <a:pathLst>
              <a:path w="1389821" h="932656">
                <a:moveTo>
                  <a:pt x="694911" y="0"/>
                </a:moveTo>
                <a:lnTo>
                  <a:pt x="719094" y="280"/>
                </a:lnTo>
                <a:lnTo>
                  <a:pt x="743416" y="1119"/>
                </a:lnTo>
                <a:lnTo>
                  <a:pt x="767598" y="2518"/>
                </a:lnTo>
                <a:lnTo>
                  <a:pt x="791642" y="4570"/>
                </a:lnTo>
                <a:lnTo>
                  <a:pt x="815547" y="7088"/>
                </a:lnTo>
                <a:lnTo>
                  <a:pt x="839452" y="10166"/>
                </a:lnTo>
                <a:lnTo>
                  <a:pt x="863079" y="13897"/>
                </a:lnTo>
                <a:lnTo>
                  <a:pt x="886428" y="18094"/>
                </a:lnTo>
                <a:lnTo>
                  <a:pt x="909638" y="22850"/>
                </a:lnTo>
                <a:lnTo>
                  <a:pt x="932570" y="28166"/>
                </a:lnTo>
                <a:lnTo>
                  <a:pt x="955224" y="33949"/>
                </a:lnTo>
                <a:lnTo>
                  <a:pt x="977600" y="40291"/>
                </a:lnTo>
                <a:lnTo>
                  <a:pt x="999560" y="47192"/>
                </a:lnTo>
                <a:lnTo>
                  <a:pt x="1021102" y="54560"/>
                </a:lnTo>
                <a:lnTo>
                  <a:pt x="1042366" y="62488"/>
                </a:lnTo>
                <a:lnTo>
                  <a:pt x="1063213" y="70882"/>
                </a:lnTo>
                <a:lnTo>
                  <a:pt x="1083505" y="79742"/>
                </a:lnTo>
                <a:lnTo>
                  <a:pt x="1103379" y="89069"/>
                </a:lnTo>
                <a:lnTo>
                  <a:pt x="1122698" y="98862"/>
                </a:lnTo>
                <a:lnTo>
                  <a:pt x="1141599" y="109121"/>
                </a:lnTo>
                <a:lnTo>
                  <a:pt x="1159945" y="119753"/>
                </a:lnTo>
                <a:lnTo>
                  <a:pt x="1177596" y="130852"/>
                </a:lnTo>
                <a:lnTo>
                  <a:pt x="1194830" y="142417"/>
                </a:lnTo>
                <a:lnTo>
                  <a:pt x="1211368" y="154261"/>
                </a:lnTo>
                <a:lnTo>
                  <a:pt x="1227212" y="166572"/>
                </a:lnTo>
                <a:lnTo>
                  <a:pt x="1242500" y="179257"/>
                </a:lnTo>
                <a:lnTo>
                  <a:pt x="1257094" y="192220"/>
                </a:lnTo>
                <a:lnTo>
                  <a:pt x="1270992" y="205557"/>
                </a:lnTo>
                <a:lnTo>
                  <a:pt x="1284195" y="219174"/>
                </a:lnTo>
                <a:lnTo>
                  <a:pt x="1296703" y="233164"/>
                </a:lnTo>
                <a:lnTo>
                  <a:pt x="1308517" y="247434"/>
                </a:lnTo>
                <a:lnTo>
                  <a:pt x="1319497" y="261890"/>
                </a:lnTo>
                <a:lnTo>
                  <a:pt x="1329781" y="276626"/>
                </a:lnTo>
                <a:lnTo>
                  <a:pt x="1339232" y="291642"/>
                </a:lnTo>
                <a:lnTo>
                  <a:pt x="1347849" y="306844"/>
                </a:lnTo>
                <a:lnTo>
                  <a:pt x="1355771" y="322233"/>
                </a:lnTo>
                <a:lnTo>
                  <a:pt x="1362859" y="337808"/>
                </a:lnTo>
                <a:lnTo>
                  <a:pt x="1369113" y="353477"/>
                </a:lnTo>
                <a:lnTo>
                  <a:pt x="1374672" y="369332"/>
                </a:lnTo>
                <a:lnTo>
                  <a:pt x="1379259" y="385374"/>
                </a:lnTo>
                <a:lnTo>
                  <a:pt x="1383011" y="401415"/>
                </a:lnTo>
                <a:lnTo>
                  <a:pt x="1386069" y="417550"/>
                </a:lnTo>
                <a:lnTo>
                  <a:pt x="1388154" y="433778"/>
                </a:lnTo>
                <a:lnTo>
                  <a:pt x="1389405" y="450100"/>
                </a:lnTo>
                <a:lnTo>
                  <a:pt x="1389821" y="466328"/>
                </a:lnTo>
                <a:lnTo>
                  <a:pt x="1077112" y="466328"/>
                </a:lnTo>
                <a:lnTo>
                  <a:pt x="1076834" y="457375"/>
                </a:lnTo>
                <a:lnTo>
                  <a:pt x="1076139" y="448421"/>
                </a:lnTo>
                <a:lnTo>
                  <a:pt x="1075027" y="439561"/>
                </a:lnTo>
                <a:lnTo>
                  <a:pt x="1073359" y="430607"/>
                </a:lnTo>
                <a:lnTo>
                  <a:pt x="1071274" y="421747"/>
                </a:lnTo>
                <a:lnTo>
                  <a:pt x="1068773" y="412980"/>
                </a:lnTo>
                <a:lnTo>
                  <a:pt x="1065715" y="404306"/>
                </a:lnTo>
                <a:lnTo>
                  <a:pt x="1062241" y="395633"/>
                </a:lnTo>
                <a:lnTo>
                  <a:pt x="1058349" y="387052"/>
                </a:lnTo>
                <a:lnTo>
                  <a:pt x="1054041" y="378565"/>
                </a:lnTo>
                <a:lnTo>
                  <a:pt x="1049315" y="370265"/>
                </a:lnTo>
                <a:lnTo>
                  <a:pt x="1044034" y="361964"/>
                </a:lnTo>
                <a:lnTo>
                  <a:pt x="1038475" y="353850"/>
                </a:lnTo>
                <a:lnTo>
                  <a:pt x="1032359" y="345922"/>
                </a:lnTo>
                <a:lnTo>
                  <a:pt x="1025966" y="338088"/>
                </a:lnTo>
                <a:lnTo>
                  <a:pt x="1019017" y="330440"/>
                </a:lnTo>
                <a:lnTo>
                  <a:pt x="1011790" y="322886"/>
                </a:lnTo>
                <a:lnTo>
                  <a:pt x="1004146" y="315611"/>
                </a:lnTo>
                <a:lnTo>
                  <a:pt x="996085" y="308429"/>
                </a:lnTo>
                <a:lnTo>
                  <a:pt x="987746" y="301435"/>
                </a:lnTo>
                <a:lnTo>
                  <a:pt x="978990" y="294719"/>
                </a:lnTo>
                <a:lnTo>
                  <a:pt x="969817" y="288191"/>
                </a:lnTo>
                <a:lnTo>
                  <a:pt x="960367" y="281849"/>
                </a:lnTo>
                <a:lnTo>
                  <a:pt x="950638" y="275693"/>
                </a:lnTo>
                <a:lnTo>
                  <a:pt x="940631" y="269817"/>
                </a:lnTo>
                <a:lnTo>
                  <a:pt x="930208" y="264222"/>
                </a:lnTo>
                <a:lnTo>
                  <a:pt x="919506" y="258812"/>
                </a:lnTo>
                <a:lnTo>
                  <a:pt x="908665" y="253683"/>
                </a:lnTo>
                <a:lnTo>
                  <a:pt x="897408" y="248833"/>
                </a:lnTo>
                <a:lnTo>
                  <a:pt x="886011" y="244169"/>
                </a:lnTo>
                <a:lnTo>
                  <a:pt x="874337" y="239879"/>
                </a:lnTo>
                <a:lnTo>
                  <a:pt x="862523" y="235776"/>
                </a:lnTo>
                <a:lnTo>
                  <a:pt x="850432" y="232045"/>
                </a:lnTo>
                <a:lnTo>
                  <a:pt x="838062" y="228501"/>
                </a:lnTo>
                <a:lnTo>
                  <a:pt x="825693" y="225330"/>
                </a:lnTo>
                <a:lnTo>
                  <a:pt x="813046" y="222439"/>
                </a:lnTo>
                <a:lnTo>
                  <a:pt x="800259" y="219827"/>
                </a:lnTo>
                <a:lnTo>
                  <a:pt x="787334" y="217495"/>
                </a:lnTo>
                <a:lnTo>
                  <a:pt x="774409" y="215444"/>
                </a:lnTo>
                <a:lnTo>
                  <a:pt x="761344" y="213765"/>
                </a:lnTo>
                <a:lnTo>
                  <a:pt x="748141" y="212366"/>
                </a:lnTo>
                <a:lnTo>
                  <a:pt x="734799" y="211247"/>
                </a:lnTo>
                <a:lnTo>
                  <a:pt x="721595" y="210501"/>
                </a:lnTo>
                <a:lnTo>
                  <a:pt x="708253" y="210034"/>
                </a:lnTo>
                <a:lnTo>
                  <a:pt x="694911" y="209848"/>
                </a:lnTo>
                <a:close/>
              </a:path>
            </a:pathLst>
          </a:custGeom>
          <a:solidFill>
            <a:srgbClr val="C6B194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326825" y="4418409"/>
            <a:ext cx="251453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kern="100" spc="-52" dirty="0">
                <a:solidFill>
                  <a:srgbClr val="FFFDF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OUTCOME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326825" y="4787999"/>
            <a:ext cx="251453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kern="100" spc="-49" dirty="0">
                <a:solidFill>
                  <a:srgbClr val="E0D6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flight schedule view.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134446" y="6489998"/>
            <a:ext cx="143268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900" b="1" kern="100" spc="-36" dirty="0">
                <a:solidFill>
                  <a:srgbClr val="685B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  /  12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51454" y="5588000"/>
            <a:ext cx="10883628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685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Java-based scheduler for airport flight information: flight number, airline, source and destination, arrival and departure time, gate, terminal and status.</a:t>
            </a:r>
            <a:endParaRPr lang="en-US" sz="1800" dirty="0"/>
          </a:p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685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manual board updates and presents flight records in an organized, consistent format.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48567" y="6516787"/>
            <a:ext cx="324099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endParaRPr lang="en-US" sz="8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0A62E64-D07A-3E41-DBAF-8CDFEBCC7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13" y="105878"/>
            <a:ext cx="1435035" cy="7143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468" y="279896"/>
            <a:ext cx="424903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39945" y="855056"/>
            <a:ext cx="11506011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kern="100" spc="-105" dirty="0">
                <a:solidFill>
                  <a:srgbClr val="2D22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Understanding 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783" y="1737320"/>
            <a:ext cx="5230285" cy="1325860"/>
          </a:xfrm>
          <a:prstGeom prst="rect">
            <a:avLst/>
          </a:prstGeom>
          <a:solidFill>
            <a:srgbClr val="2D221B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017" y="2066608"/>
            <a:ext cx="685882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kern="100" spc="-113" dirty="0">
                <a:solidFill>
                  <a:srgbClr val="C6B19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757120" y="1965920"/>
            <a:ext cx="15180" cy="850305"/>
          </a:xfrm>
          <a:prstGeom prst="rect">
            <a:avLst/>
          </a:prstGeom>
          <a:solidFill>
            <a:srgbClr val="8F7A65"/>
          </a:solidFill>
          <a:ln/>
        </p:spPr>
      </p:sp>
      <p:sp>
        <p:nvSpPr>
          <p:cNvPr id="8" name="Text 6"/>
          <p:cNvSpPr/>
          <p:nvPr/>
        </p:nvSpPr>
        <p:spPr>
          <a:xfrm>
            <a:off x="2029766" y="2239466"/>
            <a:ext cx="417591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100" spc="-60" dirty="0">
                <a:solidFill>
                  <a:srgbClr val="FFFDF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Passengers need live flight updates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262" y="1737320"/>
            <a:ext cx="5230285" cy="1325860"/>
          </a:xfrm>
          <a:prstGeom prst="rect">
            <a:avLst/>
          </a:prstGeom>
          <a:solidFill>
            <a:srgbClr val="584333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495" y="2066608"/>
            <a:ext cx="685882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kern="100" spc="-113" dirty="0">
                <a:solidFill>
                  <a:srgbClr val="C6B19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380599" y="1965920"/>
            <a:ext cx="15180" cy="850305"/>
          </a:xfrm>
          <a:prstGeom prst="rect">
            <a:avLst/>
          </a:prstGeom>
          <a:solidFill>
            <a:srgbClr val="8F7A65"/>
          </a:solidFill>
          <a:ln/>
        </p:spPr>
      </p:sp>
      <p:sp>
        <p:nvSpPr>
          <p:cNvPr id="12" name="Text 10"/>
          <p:cNvSpPr/>
          <p:nvPr/>
        </p:nvSpPr>
        <p:spPr>
          <a:xfrm>
            <a:off x="7653344" y="2239466"/>
            <a:ext cx="417591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100" spc="-60" dirty="0">
                <a:solidFill>
                  <a:srgbClr val="FFFDF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Schedules change and must be updated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783" y="3566220"/>
            <a:ext cx="5230285" cy="1325860"/>
          </a:xfrm>
          <a:prstGeom prst="rect">
            <a:avLst/>
          </a:prstGeom>
          <a:solidFill>
            <a:srgbClr val="2D221B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017" y="3895507"/>
            <a:ext cx="685882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kern="100" spc="-113" dirty="0">
                <a:solidFill>
                  <a:srgbClr val="C6B19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757120" y="3794820"/>
            <a:ext cx="15180" cy="850305"/>
          </a:xfrm>
          <a:prstGeom prst="rect">
            <a:avLst/>
          </a:prstGeom>
          <a:solidFill>
            <a:srgbClr val="8F7A65"/>
          </a:solidFill>
          <a:ln/>
        </p:spPr>
      </p:sp>
      <p:sp>
        <p:nvSpPr>
          <p:cNvPr id="16" name="Text 14"/>
          <p:cNvSpPr/>
          <p:nvPr/>
        </p:nvSpPr>
        <p:spPr>
          <a:xfrm>
            <a:off x="2029766" y="3954066"/>
            <a:ext cx="417591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100" spc="-60" dirty="0">
                <a:solidFill>
                  <a:srgbClr val="FFFDF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Manual handling causes errors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09262" y="3566220"/>
            <a:ext cx="5230285" cy="1325860"/>
          </a:xfrm>
          <a:prstGeom prst="rect">
            <a:avLst/>
          </a:prstGeom>
          <a:solidFill>
            <a:srgbClr val="584333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495" y="3895507"/>
            <a:ext cx="685882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kern="100" spc="-113" dirty="0">
                <a:solidFill>
                  <a:srgbClr val="C6B19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7380599" y="3794820"/>
            <a:ext cx="15180" cy="850305"/>
          </a:xfrm>
          <a:prstGeom prst="rect">
            <a:avLst/>
          </a:prstGeom>
          <a:solidFill>
            <a:srgbClr val="8F7A65"/>
          </a:solidFill>
          <a:ln/>
        </p:spPr>
      </p:sp>
      <p:sp>
        <p:nvSpPr>
          <p:cNvPr id="20" name="Text 18"/>
          <p:cNvSpPr/>
          <p:nvPr/>
        </p:nvSpPr>
        <p:spPr>
          <a:xfrm>
            <a:off x="7653344" y="4068366"/>
            <a:ext cx="417591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100" spc="-60" dirty="0">
                <a:solidFill>
                  <a:srgbClr val="FFFDF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reliable scheduler is needed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134446" y="6489998"/>
            <a:ext cx="143268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900" b="1" kern="100" spc="-36" dirty="0">
                <a:solidFill>
                  <a:srgbClr val="685B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  /  12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1454" y="5105400"/>
            <a:ext cx="10883628" cy="111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685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challenges: schedules change often, delays and gate changes arrive late, and duplicate or invalid records are hard to catch.</a:t>
            </a:r>
            <a:endParaRPr lang="en-US" sz="1800" dirty="0"/>
          </a:p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685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also struggle to search flight details quickly, so boards can fall behind real-time status.</a:t>
            </a:r>
            <a:endParaRPr lang="en-US" sz="1800" dirty="0"/>
          </a:p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685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goal: a simple, reliable Java scheduler that keeps flight records accurate and board displays timely.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567" y="6516787"/>
            <a:ext cx="324099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endParaRPr lang="en-US" sz="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98B3BF6-EEE4-4E8B-26E6-E52E88A9F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13" y="105878"/>
            <a:ext cx="1435035" cy="7143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39235"/>
            <a:ext cx="12191695" cy="118864"/>
          </a:xfrm>
          <a:prstGeom prst="rect">
            <a:avLst/>
          </a:prstGeom>
          <a:solidFill>
            <a:srgbClr val="584333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64501" y="196056"/>
            <a:ext cx="11862495" cy="10120"/>
          </a:xfrm>
          <a:prstGeom prst="rect">
            <a:avLst/>
          </a:prstGeom>
          <a:solidFill>
            <a:srgbClr val="8F7A65"/>
          </a:solidFill>
          <a:ln/>
        </p:spPr>
      </p:sp>
      <p:sp>
        <p:nvSpPr>
          <p:cNvPr id="4" name="Text 2"/>
          <p:cNvSpPr/>
          <p:nvPr/>
        </p:nvSpPr>
        <p:spPr>
          <a:xfrm>
            <a:off x="639945" y="1806484"/>
            <a:ext cx="2834807" cy="143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50" b="1" kern="100" spc="20" dirty="0">
                <a:solidFill>
                  <a:srgbClr val="8F7A6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8550" dirty="0"/>
          </a:p>
        </p:txBody>
      </p:sp>
      <p:sp>
        <p:nvSpPr>
          <p:cNvPr id="5" name="Text 3"/>
          <p:cNvSpPr/>
          <p:nvPr/>
        </p:nvSpPr>
        <p:spPr>
          <a:xfrm>
            <a:off x="2971726" y="2029500"/>
            <a:ext cx="6492316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kern="100" spc="-113" dirty="0">
                <a:solidFill>
                  <a:srgbClr val="FFFDF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Computational Thinking</a:t>
            </a:r>
            <a:endParaRPr lang="en-US" sz="2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800" b="1" kern="100" spc="-113" dirty="0">
                <a:solidFill>
                  <a:srgbClr val="FFFDF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&amp; Java Foundations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017464" y="3556000"/>
            <a:ext cx="7020543" cy="9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300" kern="100" spc="-69" dirty="0">
                <a:solidFill>
                  <a:srgbClr val="E0D6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Problem solving, algorithms and flowcharts</a:t>
            </a:r>
            <a:endParaRPr lang="en-US" sz="1300" dirty="0"/>
          </a:p>
          <a:p>
            <a:pPr marL="0" indent="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300" kern="100" spc="-69" dirty="0">
                <a:solidFill>
                  <a:srgbClr val="E0D6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Java environment, program structure and programming model</a:t>
            </a:r>
            <a:endParaRPr lang="en-US" sz="1300" dirty="0"/>
          </a:p>
          <a:p>
            <a:pPr marL="0" indent="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300" kern="100" spc="-69" dirty="0">
                <a:solidFill>
                  <a:srgbClr val="E0D6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Primitive data types, variables, constants, literals and operators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-69" dirty="0">
                <a:solidFill>
                  <a:srgbClr val="E0D6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Typecasting, expression evaluation, console I/O and Scanner input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502836" y="2286000"/>
            <a:ext cx="25399" cy="142875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8" name="Shape 6"/>
          <p:cNvSpPr/>
          <p:nvPr/>
        </p:nvSpPr>
        <p:spPr>
          <a:xfrm>
            <a:off x="10115495" y="2581970"/>
            <a:ext cx="800080" cy="254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9" name="Shape 7"/>
          <p:cNvSpPr/>
          <p:nvPr/>
        </p:nvSpPr>
        <p:spPr>
          <a:xfrm rot="9164400">
            <a:off x="10114899" y="3799284"/>
            <a:ext cx="424249" cy="254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0" name="Shape 8"/>
          <p:cNvSpPr/>
          <p:nvPr/>
        </p:nvSpPr>
        <p:spPr>
          <a:xfrm rot="1594200">
            <a:off x="10492517" y="3799284"/>
            <a:ext cx="434369" cy="254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1" name="Shape 9"/>
          <p:cNvSpPr/>
          <p:nvPr/>
        </p:nvSpPr>
        <p:spPr>
          <a:xfrm rot="6210000">
            <a:off x="9855946" y="2885479"/>
            <a:ext cx="587658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2" name="Shape 10"/>
          <p:cNvSpPr/>
          <p:nvPr/>
        </p:nvSpPr>
        <p:spPr>
          <a:xfrm rot="4590000">
            <a:off x="9993063" y="2885479"/>
            <a:ext cx="587658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12608" y="3171230"/>
            <a:ext cx="411450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4" name="Shape 12"/>
          <p:cNvSpPr/>
          <p:nvPr/>
        </p:nvSpPr>
        <p:spPr>
          <a:xfrm rot="2436000">
            <a:off x="10032947" y="3239889"/>
            <a:ext cx="210735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5" name="Shape 13"/>
          <p:cNvSpPr/>
          <p:nvPr/>
        </p:nvSpPr>
        <p:spPr>
          <a:xfrm rot="19164000">
            <a:off x="10192983" y="3239889"/>
            <a:ext cx="210735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6" name="Shape 14"/>
          <p:cNvSpPr/>
          <p:nvPr/>
        </p:nvSpPr>
        <p:spPr>
          <a:xfrm rot="6210000">
            <a:off x="10450252" y="2885479"/>
            <a:ext cx="587658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7" name="Shape 15"/>
          <p:cNvSpPr/>
          <p:nvPr/>
        </p:nvSpPr>
        <p:spPr>
          <a:xfrm rot="4590000">
            <a:off x="10587467" y="2885479"/>
            <a:ext cx="587658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8" name="Shape 16"/>
          <p:cNvSpPr/>
          <p:nvPr/>
        </p:nvSpPr>
        <p:spPr>
          <a:xfrm>
            <a:off x="10607013" y="3171230"/>
            <a:ext cx="411450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9" name="Shape 17"/>
          <p:cNvSpPr/>
          <p:nvPr/>
        </p:nvSpPr>
        <p:spPr>
          <a:xfrm rot="2436000">
            <a:off x="10627253" y="3239889"/>
            <a:ext cx="210735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20" name="Shape 18"/>
          <p:cNvSpPr/>
          <p:nvPr/>
        </p:nvSpPr>
        <p:spPr>
          <a:xfrm rot="19164000">
            <a:off x="10787289" y="3239889"/>
            <a:ext cx="210735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21" name="Text 19"/>
          <p:cNvSpPr/>
          <p:nvPr/>
        </p:nvSpPr>
        <p:spPr>
          <a:xfrm>
            <a:off x="548468" y="6510635"/>
            <a:ext cx="984513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134446" y="6489998"/>
            <a:ext cx="143268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900" b="1" kern="100" spc="-36" dirty="0">
                <a:solidFill>
                  <a:srgbClr val="E0D6C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04  /  12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1454" y="5486400"/>
            <a:ext cx="10883628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E0D6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flight details with validated console input (Scanner), then compare and calculate times using operators and typecasting.</a:t>
            </a:r>
            <a:endParaRPr lang="en-US" sz="1800" dirty="0"/>
          </a:p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E0D6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formatted flight-board records, built on computational thinking and algorithm design.</a:t>
            </a:r>
            <a:endParaRPr lang="en-US" sz="1800" dirty="0"/>
          </a:p>
        </p:txBody>
      </p:sp>
      <p:pic>
        <p:nvPicPr>
          <p:cNvPr id="2050" name="Picture 2" descr="This may contain: two boarding cards sitting on top of each other in front of a red background,">
            <a:extLst>
              <a:ext uri="{FF2B5EF4-FFF2-40B4-BE49-F238E27FC236}">
                <a16:creationId xmlns:a16="http://schemas.microsoft.com/office/drawing/2014/main" id="{FA804244-AA12-72EF-DC77-8507352DC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081" y="2486773"/>
            <a:ext cx="2450913" cy="4263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Let’s fly to Miami! ✈️&#10; As I’m based in Edinburgh, Scotland, nowhere flies direct! So I always have to fly to London or Dublin before doing the long-haul section. Annoying. But, it is what it is. The domestic flight required me to wake up at 3am, which wasn’t a vibe, but it did mean I got stunning sunrise views above the clouds. True bliss. &#10;&#10;The flight from London Heathrow to Miami was 9 hours 30 minutes. That’s usually my idea of hell because I’m never able to get comfortable or even sleep,...">
            <a:extLst>
              <a:ext uri="{FF2B5EF4-FFF2-40B4-BE49-F238E27FC236}">
                <a16:creationId xmlns:a16="http://schemas.microsoft.com/office/drawing/2014/main" id="{7E2C2C31-089E-D171-1062-871792A89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3289" y="427189"/>
            <a:ext cx="5094289" cy="3276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AB4290E-6CB2-BC09-E558-D734303A73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85" y="226813"/>
            <a:ext cx="1435035" cy="7143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468" y="279896"/>
            <a:ext cx="424903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39945" y="874216"/>
            <a:ext cx="1150601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kern="100" spc="-101" dirty="0">
                <a:solidFill>
                  <a:srgbClr val="2D22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CO2 · Control Flow: Selection &amp; Iteration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05" y="1645841"/>
            <a:ext cx="3657608" cy="4297759"/>
          </a:xfrm>
          <a:prstGeom prst="rect">
            <a:avLst/>
          </a:prstGeom>
          <a:solidFill>
            <a:srgbClr val="2D221B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05" y="5824835"/>
            <a:ext cx="3657608" cy="118864"/>
          </a:xfrm>
          <a:prstGeom prst="rect">
            <a:avLst/>
          </a:prstGeom>
          <a:solidFill>
            <a:srgbClr val="584333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05" y="1841996"/>
            <a:ext cx="3328408" cy="10120"/>
          </a:xfrm>
          <a:prstGeom prst="rect">
            <a:avLst/>
          </a:prstGeom>
          <a:solidFill>
            <a:srgbClr val="8F7A65"/>
          </a:solidFill>
          <a:ln/>
        </p:spPr>
      </p:sp>
      <p:sp>
        <p:nvSpPr>
          <p:cNvPr id="8" name="Shape 6"/>
          <p:cNvSpPr/>
          <p:nvPr/>
        </p:nvSpPr>
        <p:spPr>
          <a:xfrm>
            <a:off x="2410360" y="2240260"/>
            <a:ext cx="25399" cy="142875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9" name="Shape 7"/>
          <p:cNvSpPr/>
          <p:nvPr/>
        </p:nvSpPr>
        <p:spPr>
          <a:xfrm>
            <a:off x="2023020" y="2536230"/>
            <a:ext cx="800080" cy="254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0" name="Shape 8"/>
          <p:cNvSpPr/>
          <p:nvPr/>
        </p:nvSpPr>
        <p:spPr>
          <a:xfrm rot="9164400">
            <a:off x="2022424" y="3753545"/>
            <a:ext cx="424249" cy="254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1" name="Shape 9"/>
          <p:cNvSpPr/>
          <p:nvPr/>
        </p:nvSpPr>
        <p:spPr>
          <a:xfrm rot="1594200">
            <a:off x="2400240" y="3753544"/>
            <a:ext cx="434369" cy="254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2" name="Shape 10"/>
          <p:cNvSpPr/>
          <p:nvPr/>
        </p:nvSpPr>
        <p:spPr>
          <a:xfrm rot="6210000">
            <a:off x="1763470" y="2839839"/>
            <a:ext cx="587658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3" name="Shape 11"/>
          <p:cNvSpPr/>
          <p:nvPr/>
        </p:nvSpPr>
        <p:spPr>
          <a:xfrm rot="4590000">
            <a:off x="1900587" y="2839839"/>
            <a:ext cx="587658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4" name="Shape 12"/>
          <p:cNvSpPr/>
          <p:nvPr/>
        </p:nvSpPr>
        <p:spPr>
          <a:xfrm>
            <a:off x="1920132" y="3125589"/>
            <a:ext cx="411450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5" name="Shape 13"/>
          <p:cNvSpPr/>
          <p:nvPr/>
        </p:nvSpPr>
        <p:spPr>
          <a:xfrm rot="2436000">
            <a:off x="1940472" y="3194149"/>
            <a:ext cx="210735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6" name="Shape 14"/>
          <p:cNvSpPr/>
          <p:nvPr/>
        </p:nvSpPr>
        <p:spPr>
          <a:xfrm rot="19164000">
            <a:off x="2100508" y="3194149"/>
            <a:ext cx="210735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7" name="Shape 15"/>
          <p:cNvSpPr/>
          <p:nvPr/>
        </p:nvSpPr>
        <p:spPr>
          <a:xfrm rot="6210000">
            <a:off x="2357875" y="2839839"/>
            <a:ext cx="587658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8" name="Shape 16"/>
          <p:cNvSpPr/>
          <p:nvPr/>
        </p:nvSpPr>
        <p:spPr>
          <a:xfrm rot="4590000">
            <a:off x="2495091" y="2839839"/>
            <a:ext cx="587658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9" name="Shape 17"/>
          <p:cNvSpPr/>
          <p:nvPr/>
        </p:nvSpPr>
        <p:spPr>
          <a:xfrm>
            <a:off x="2514537" y="3125589"/>
            <a:ext cx="411450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20" name="Shape 18"/>
          <p:cNvSpPr/>
          <p:nvPr/>
        </p:nvSpPr>
        <p:spPr>
          <a:xfrm rot="2436000">
            <a:off x="2534976" y="3194149"/>
            <a:ext cx="210735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21" name="Shape 19"/>
          <p:cNvSpPr/>
          <p:nvPr/>
        </p:nvSpPr>
        <p:spPr>
          <a:xfrm rot="19164000">
            <a:off x="2694912" y="3194149"/>
            <a:ext cx="210735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395" y="4171582"/>
            <a:ext cx="274333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kern="100" spc="-85" dirty="0">
                <a:solidFill>
                  <a:srgbClr val="FFFDF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 Flow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60017" y="4874716"/>
            <a:ext cx="292628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kern="100" spc="-54" dirty="0">
                <a:solidFill>
                  <a:srgbClr val="E0D6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2: if, if-else, switch, while, do-while, for, break and continue.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1985" y="1691580"/>
            <a:ext cx="6903666" cy="1170384"/>
          </a:xfrm>
          <a:prstGeom prst="rect">
            <a:avLst/>
          </a:prstGeom>
          <a:solidFill>
            <a:srgbClr val="FFFDF8"/>
          </a:solidFill>
          <a:ln w="12700">
            <a:solidFill>
              <a:srgbClr val="E0D6C7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1985" y="1691580"/>
            <a:ext cx="82250" cy="1170384"/>
          </a:xfrm>
          <a:prstGeom prst="rect">
            <a:avLst/>
          </a:prstGeom>
          <a:solidFill>
            <a:srgbClr val="584333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37091" y="1901130"/>
            <a:ext cx="698303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100" spc="-60" dirty="0">
                <a:solidFill>
                  <a:srgbClr val="2D22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SELECTION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37091" y="2359323"/>
            <a:ext cx="63734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100" spc="-49" dirty="0">
                <a:solidFill>
                  <a:srgbClr val="685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if, if-else, nested-if, if-else-if ladder, switch, default, break, compound statements. For flight records, decisions can assign Scheduled, Boarding, Delayed, Departed or Cancelled status.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1985" y="3063280"/>
            <a:ext cx="6903666" cy="1170384"/>
          </a:xfrm>
          <a:prstGeom prst="rect">
            <a:avLst/>
          </a:prstGeom>
          <a:solidFill>
            <a:srgbClr val="FFFDF8"/>
          </a:solidFill>
          <a:ln w="12700">
            <a:solidFill>
              <a:srgbClr val="E0D6C7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1985" y="3063280"/>
            <a:ext cx="82250" cy="1170384"/>
          </a:xfrm>
          <a:prstGeom prst="rect">
            <a:avLst/>
          </a:prstGeom>
          <a:solidFill>
            <a:srgbClr val="584333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37091" y="3272830"/>
            <a:ext cx="698303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100" spc="-60" dirty="0">
                <a:solidFill>
                  <a:srgbClr val="2D22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ITERATION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837091" y="3731121"/>
            <a:ext cx="63734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100" spc="-49" dirty="0">
                <a:solidFill>
                  <a:srgbClr val="685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while, do-while and for loops; continue and infinite loops. A menu loop can process records and display matching flights.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1985" y="4434880"/>
            <a:ext cx="6903666" cy="1170384"/>
          </a:xfrm>
          <a:prstGeom prst="rect">
            <a:avLst/>
          </a:prstGeom>
          <a:solidFill>
            <a:srgbClr val="FFFDF8"/>
          </a:solidFill>
          <a:ln w="12700">
            <a:solidFill>
              <a:srgbClr val="E0D6C7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1985" y="4434880"/>
            <a:ext cx="82250" cy="1170384"/>
          </a:xfrm>
          <a:prstGeom prst="rect">
            <a:avLst/>
          </a:prstGeom>
          <a:solidFill>
            <a:srgbClr val="584333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37091" y="4644430"/>
            <a:ext cx="698303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100" spc="-60" dirty="0">
                <a:solidFill>
                  <a:srgbClr val="2D22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NESTED STRUCTURES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837091" y="5102721"/>
            <a:ext cx="69830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100" spc="-49" dirty="0">
                <a:solidFill>
                  <a:srgbClr val="685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Nested if statements and nested loops.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134446" y="6489998"/>
            <a:ext cx="143268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900" b="1" kern="100" spc="-36" dirty="0">
                <a:solidFill>
                  <a:srgbClr val="685B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05  /  12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567" y="6516787"/>
            <a:ext cx="324099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endParaRPr lang="en-US" sz="800" dirty="0"/>
          </a:p>
        </p:txBody>
      </p:sp>
      <p:pic>
        <p:nvPicPr>
          <p:cNvPr id="3074" name="Picture 2" descr="Story Pin image">
            <a:extLst>
              <a:ext uri="{FF2B5EF4-FFF2-40B4-BE49-F238E27FC236}">
                <a16:creationId xmlns:a16="http://schemas.microsoft.com/office/drawing/2014/main" id="{2D4CF09A-0DCA-8C64-FBE9-B751DA1B3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294" y="2009050"/>
            <a:ext cx="2911441" cy="2103071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94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44861AA-55C8-1041-3953-391EB1E5B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513" y="105878"/>
            <a:ext cx="1435035" cy="7143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39235"/>
            <a:ext cx="12191695" cy="118864"/>
          </a:xfrm>
          <a:prstGeom prst="rect">
            <a:avLst/>
          </a:prstGeom>
          <a:solidFill>
            <a:srgbClr val="584333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64501" y="196056"/>
            <a:ext cx="11862495" cy="10120"/>
          </a:xfrm>
          <a:prstGeom prst="rect">
            <a:avLst/>
          </a:prstGeom>
          <a:solidFill>
            <a:srgbClr val="8F7A65"/>
          </a:solidFill>
          <a:ln/>
        </p:spPr>
      </p:sp>
      <p:sp>
        <p:nvSpPr>
          <p:cNvPr id="4" name="Text 2"/>
          <p:cNvSpPr/>
          <p:nvPr/>
        </p:nvSpPr>
        <p:spPr>
          <a:xfrm>
            <a:off x="1104425" y="1196032"/>
            <a:ext cx="6492316" cy="914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50" b="1" kern="100" spc="6" dirty="0">
                <a:solidFill>
                  <a:srgbClr val="FFFDF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Decomposition with Methods</a:t>
            </a:r>
            <a:endParaRPr lang="en-US" sz="27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750" b="1" kern="100" spc="6" dirty="0">
                <a:solidFill>
                  <a:srgbClr val="FFFDF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Recursion &amp; Arrays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994258" y="2419746"/>
            <a:ext cx="7020543" cy="97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450"/>
              </a:spcAft>
              <a:buNone/>
            </a:pPr>
            <a:r>
              <a:rPr lang="en-US" sz="1300" kern="100" spc="-74" dirty="0">
                <a:solidFill>
                  <a:srgbClr val="E0D6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r>
              <a:rPr lang="en-US" kern="100" spc="-74" dirty="0">
                <a:solidFill>
                  <a:srgbClr val="E0D6C7"/>
                </a:solidFill>
                <a:latin typeface="Bookman Old Style" panose="02050604050505020204" pitchFamily="18" charset="0"/>
                <a:ea typeface="Inter" pitchFamily="34" charset="-122"/>
                <a:cs typeface="Inter" pitchFamily="34" charset="-120"/>
              </a:rPr>
              <a:t>Modular programming: method definition, invocation, overloading</a:t>
            </a:r>
            <a:endParaRPr lang="en-US" dirty="0">
              <a:latin typeface="Bookman Old Style" panose="02050604050505020204" pitchFamily="18" charset="0"/>
            </a:endParaRPr>
          </a:p>
          <a:p>
            <a:pPr marL="0" indent="0" algn="l">
              <a:lnSpc>
                <a:spcPct val="100000"/>
              </a:lnSpc>
              <a:spcAft>
                <a:spcPts val="450"/>
              </a:spcAft>
              <a:buNone/>
            </a:pPr>
            <a:r>
              <a:rPr lang="en-US" kern="100" spc="-74" dirty="0">
                <a:solidFill>
                  <a:srgbClr val="E0D6C7"/>
                </a:solidFill>
                <a:latin typeface="Bookman Old Style" panose="02050604050505020204" pitchFamily="18" charset="0"/>
                <a:ea typeface="Inter" pitchFamily="34" charset="-122"/>
                <a:cs typeface="Inter" pitchFamily="34" charset="-120"/>
              </a:rPr>
              <a:t>• Parameter passing and return values; enhanced for-each loop</a:t>
            </a:r>
            <a:endParaRPr lang="en-US" dirty="0">
              <a:latin typeface="Bookman Old Style" panose="02050604050505020204" pitchFamily="18" charset="0"/>
            </a:endParaRPr>
          </a:p>
          <a:p>
            <a:pPr marL="0" indent="0" algn="l">
              <a:lnSpc>
                <a:spcPct val="100000"/>
              </a:lnSpc>
              <a:spcAft>
                <a:spcPts val="450"/>
              </a:spcAft>
              <a:buNone/>
            </a:pPr>
            <a:r>
              <a:rPr lang="en-US" kern="100" spc="-74" dirty="0">
                <a:solidFill>
                  <a:srgbClr val="E0D6C7"/>
                </a:solidFill>
                <a:latin typeface="Bookman Old Style" panose="02050604050505020204" pitchFamily="18" charset="0"/>
                <a:ea typeface="Inter" pitchFamily="34" charset="-122"/>
                <a:cs typeface="Inter" pitchFamily="34" charset="-120"/>
              </a:rPr>
              <a:t>• Recursion with base and recursive cases</a:t>
            </a:r>
            <a:endParaRPr lang="en-US" dirty="0">
              <a:latin typeface="Bookman Old Style" panose="02050604050505020204" pitchFamily="18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kern="100" spc="-74" dirty="0">
                <a:solidFill>
                  <a:srgbClr val="E0D6C7"/>
                </a:solidFill>
                <a:latin typeface="Bookman Old Style" panose="02050604050505020204" pitchFamily="18" charset="0"/>
                <a:ea typeface="Inter" pitchFamily="34" charset="-122"/>
                <a:cs typeface="Inter" pitchFamily="34" charset="-120"/>
              </a:rPr>
              <a:t>• 1D arrays for traversal, searching, sum, average; 2D matrix arithmetic</a:t>
            </a: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502836" y="2286000"/>
            <a:ext cx="25399" cy="142875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7" name="Shape 5"/>
          <p:cNvSpPr/>
          <p:nvPr/>
        </p:nvSpPr>
        <p:spPr>
          <a:xfrm>
            <a:off x="10115495" y="2581970"/>
            <a:ext cx="800080" cy="254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8" name="Shape 6"/>
          <p:cNvSpPr/>
          <p:nvPr/>
        </p:nvSpPr>
        <p:spPr>
          <a:xfrm rot="9164400">
            <a:off x="10114899" y="3799284"/>
            <a:ext cx="424249" cy="254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9" name="Shape 7"/>
          <p:cNvSpPr/>
          <p:nvPr/>
        </p:nvSpPr>
        <p:spPr>
          <a:xfrm rot="1594200">
            <a:off x="10492517" y="3799284"/>
            <a:ext cx="434369" cy="254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0" name="Shape 8"/>
          <p:cNvSpPr/>
          <p:nvPr/>
        </p:nvSpPr>
        <p:spPr>
          <a:xfrm rot="6210000">
            <a:off x="9855946" y="2885479"/>
            <a:ext cx="587658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1" name="Shape 9"/>
          <p:cNvSpPr/>
          <p:nvPr/>
        </p:nvSpPr>
        <p:spPr>
          <a:xfrm rot="4590000">
            <a:off x="9993063" y="2885479"/>
            <a:ext cx="587658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12608" y="3171230"/>
            <a:ext cx="411450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3" name="Shape 11"/>
          <p:cNvSpPr/>
          <p:nvPr/>
        </p:nvSpPr>
        <p:spPr>
          <a:xfrm rot="2436000">
            <a:off x="10032947" y="3239889"/>
            <a:ext cx="210735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4" name="Shape 12"/>
          <p:cNvSpPr/>
          <p:nvPr/>
        </p:nvSpPr>
        <p:spPr>
          <a:xfrm rot="19164000">
            <a:off x="10192983" y="3239889"/>
            <a:ext cx="210735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5" name="Shape 13"/>
          <p:cNvSpPr/>
          <p:nvPr/>
        </p:nvSpPr>
        <p:spPr>
          <a:xfrm rot="6210000">
            <a:off x="10450252" y="2885479"/>
            <a:ext cx="587658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6" name="Shape 14"/>
          <p:cNvSpPr/>
          <p:nvPr/>
        </p:nvSpPr>
        <p:spPr>
          <a:xfrm rot="4590000">
            <a:off x="10587467" y="2885479"/>
            <a:ext cx="587658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07013" y="3171230"/>
            <a:ext cx="411450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8" name="Shape 16"/>
          <p:cNvSpPr/>
          <p:nvPr/>
        </p:nvSpPr>
        <p:spPr>
          <a:xfrm rot="2436000">
            <a:off x="10627253" y="3239889"/>
            <a:ext cx="210735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9" name="Shape 17"/>
          <p:cNvSpPr/>
          <p:nvPr/>
        </p:nvSpPr>
        <p:spPr>
          <a:xfrm rot="19164000">
            <a:off x="10787289" y="3239889"/>
            <a:ext cx="210735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20" name="Text 18"/>
          <p:cNvSpPr/>
          <p:nvPr/>
        </p:nvSpPr>
        <p:spPr>
          <a:xfrm>
            <a:off x="548468" y="6510635"/>
            <a:ext cx="984513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134446" y="6489998"/>
            <a:ext cx="143268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900" b="1" kern="100" spc="-36" dirty="0">
                <a:solidFill>
                  <a:srgbClr val="E0D6C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06  /  12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1820" y="4096059"/>
            <a:ext cx="6997525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en-US" sz="7200" dirty="0">
                <a:solidFill>
                  <a:srgbClr val="E0D6C7"/>
                </a:solidFill>
                <a:latin typeface="Bookman Old Style" panose="02050604050505020204" pitchFamily="18" charset="0"/>
                <a:ea typeface="Inter" pitchFamily="34" charset="-122"/>
                <a:cs typeface="Inter" pitchFamily="34" charset="-120"/>
              </a:rPr>
              <a:t>Reusable methods: addFlight, updateStatus, searchFlight, sortFlights and summary calculations.</a:t>
            </a:r>
            <a:endParaRPr lang="en-US" sz="7200" dirty="0">
              <a:latin typeface="Bookman Old Style" panose="02050604050505020204" pitchFamily="18" charset="0"/>
            </a:endParaRPr>
          </a:p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en-US" sz="7200" dirty="0">
                <a:solidFill>
                  <a:srgbClr val="E0D6C7"/>
                </a:solidFill>
                <a:latin typeface="Bookman Old Style" panose="02050604050505020204" pitchFamily="18" charset="0"/>
                <a:ea typeface="Inter" pitchFamily="34" charset="-122"/>
                <a:cs typeface="Inter" pitchFamily="34" charset="-120"/>
              </a:rPr>
              <a:t>Recursion and 1D/2D arrays store and traverse flight records for searching, totals and averages</a:t>
            </a:r>
            <a:r>
              <a:rPr lang="en-US" sz="1100" dirty="0">
                <a:solidFill>
                  <a:srgbClr val="E0D6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800" dirty="0"/>
          </a:p>
        </p:txBody>
      </p:sp>
      <p:pic>
        <p:nvPicPr>
          <p:cNvPr id="4098" name="Picture 2" descr="This may contain: an airport departure sign at dusk with the sky in the background and lights on">
            <a:extLst>
              <a:ext uri="{FF2B5EF4-FFF2-40B4-BE49-F238E27FC236}">
                <a16:creationId xmlns:a16="http://schemas.microsoft.com/office/drawing/2014/main" id="{6FC92919-8284-F4A1-C285-8564DD898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9931" y="194965"/>
            <a:ext cx="4182069" cy="6544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10E2810-0ABE-2B09-567B-67952C22C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740" y="282376"/>
            <a:ext cx="1435035" cy="7143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468" y="279896"/>
            <a:ext cx="424903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39945" y="874216"/>
            <a:ext cx="1150601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kern="100" spc="-101" dirty="0">
                <a:solidFill>
                  <a:srgbClr val="2D22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CO4 · Object-Oriented Modelling, Design &amp; Exceptions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67329" y="1501378"/>
            <a:ext cx="1130817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100" spc="-64" dirty="0">
                <a:solidFill>
                  <a:srgbClr val="685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4: classes, objects, encapsulation, inheritance, interfaces and exception handling.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783" y="2148780"/>
            <a:ext cx="3474752" cy="3154759"/>
          </a:xfrm>
          <a:prstGeom prst="rect">
            <a:avLst/>
          </a:prstGeom>
          <a:solidFill>
            <a:srgbClr val="FFFDF8"/>
          </a:solidFill>
          <a:ln w="12700">
            <a:solidFill>
              <a:srgbClr val="E0D6C7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783" y="2148780"/>
            <a:ext cx="82250" cy="3154759"/>
          </a:xfrm>
          <a:prstGeom prst="rect">
            <a:avLst/>
          </a:prstGeom>
          <a:solidFill>
            <a:srgbClr val="584333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534" y="2313127"/>
            <a:ext cx="423951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kern="100" spc="-97" dirty="0">
                <a:solidFill>
                  <a:srgbClr val="C6B19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44589" y="2358231"/>
            <a:ext cx="271594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100" spc="-60" dirty="0">
                <a:solidFill>
                  <a:srgbClr val="2D22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CLASSES &amp; OBJECTS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44589" y="2826147"/>
            <a:ext cx="250560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-49" dirty="0">
                <a:solidFill>
                  <a:srgbClr val="685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Fields, methods, instance vs static members, constructors, this, toString().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70675" y="2148780"/>
            <a:ext cx="3474752" cy="3154759"/>
          </a:xfrm>
          <a:prstGeom prst="rect">
            <a:avLst/>
          </a:prstGeom>
          <a:solidFill>
            <a:srgbClr val="FFFDF8"/>
          </a:solidFill>
          <a:ln w="12700">
            <a:solidFill>
              <a:srgbClr val="E0D6C7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70675" y="2148780"/>
            <a:ext cx="82250" cy="3154759"/>
          </a:xfrm>
          <a:prstGeom prst="rect">
            <a:avLst/>
          </a:prstGeom>
          <a:solidFill>
            <a:srgbClr val="584333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426" y="2313127"/>
            <a:ext cx="423951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kern="100" spc="-97" dirty="0">
                <a:solidFill>
                  <a:srgbClr val="C6B19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129481" y="2358231"/>
            <a:ext cx="271604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100" spc="-60" dirty="0">
                <a:solidFill>
                  <a:srgbClr val="2D22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INHERITANCE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29481" y="2826147"/>
            <a:ext cx="250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-49" dirty="0">
                <a:solidFill>
                  <a:srgbClr val="685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Is-a relationships, overriding, interfaces; encapsulation with private fields and accessors.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64894" y="2148780"/>
            <a:ext cx="3474752" cy="3154759"/>
          </a:xfrm>
          <a:prstGeom prst="rect">
            <a:avLst/>
          </a:prstGeom>
          <a:solidFill>
            <a:srgbClr val="FFFDF8"/>
          </a:solidFill>
          <a:ln w="12700">
            <a:solidFill>
              <a:srgbClr val="E0D6C7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64894" y="2148780"/>
            <a:ext cx="82250" cy="3154759"/>
          </a:xfrm>
          <a:prstGeom prst="rect">
            <a:avLst/>
          </a:prstGeom>
          <a:solidFill>
            <a:srgbClr val="584333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11644" y="2313127"/>
            <a:ext cx="423951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kern="100" spc="-97" dirty="0">
                <a:solidFill>
                  <a:srgbClr val="C6B19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823700" y="2358231"/>
            <a:ext cx="271604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100" spc="-60" dirty="0">
                <a:solidFill>
                  <a:srgbClr val="2D22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EXCEPTIONS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823700" y="2816622"/>
            <a:ext cx="250560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100" spc="-49" dirty="0">
                <a:solidFill>
                  <a:srgbClr val="685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Errors vs exceptions; checked and unchecked; try-catch-finally, multi-catch, throw, throws.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134446" y="6489998"/>
            <a:ext cx="143268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900" b="1" kern="100" spc="-36" dirty="0">
                <a:solidFill>
                  <a:srgbClr val="685B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07  /  12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2931" y="5537200"/>
            <a:ext cx="10705832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685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Flight, AirportBoard and Scheduler classes model flight data with encapsulated fields and constructors.</a:t>
            </a:r>
            <a:endParaRPr lang="en-US" sz="1800" dirty="0"/>
          </a:p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685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Exceptions handle invalid input, missing flight records and unsafe updates.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567" y="6516787"/>
            <a:ext cx="324099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endParaRPr lang="en-US" sz="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3EF93DC-73C2-2C65-5156-4499A856E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13" y="105878"/>
            <a:ext cx="1435035" cy="7143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468" y="279896"/>
            <a:ext cx="424903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39945" y="874216"/>
            <a:ext cx="1150601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kern="100" spc="-101" dirty="0">
                <a:solidFill>
                  <a:srgbClr val="2D22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CO5 · Strings, Library Algorithms &amp; File I/O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44" y="1600200"/>
            <a:ext cx="3840463" cy="4526359"/>
          </a:xfrm>
          <a:prstGeom prst="rect">
            <a:avLst/>
          </a:prstGeom>
          <a:solidFill>
            <a:srgbClr val="2D221B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44" y="6007695"/>
            <a:ext cx="3840463" cy="118864"/>
          </a:xfrm>
          <a:prstGeom prst="rect">
            <a:avLst/>
          </a:prstGeom>
          <a:solidFill>
            <a:srgbClr val="584333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44" y="1796256"/>
            <a:ext cx="3511264" cy="10120"/>
          </a:xfrm>
          <a:prstGeom prst="rect">
            <a:avLst/>
          </a:prstGeom>
          <a:solidFill>
            <a:srgbClr val="8F7A65"/>
          </a:solidFill>
          <a:ln/>
        </p:spPr>
      </p:sp>
      <p:sp>
        <p:nvSpPr>
          <p:cNvPr id="8" name="Shape 6"/>
          <p:cNvSpPr/>
          <p:nvPr/>
        </p:nvSpPr>
        <p:spPr>
          <a:xfrm>
            <a:off x="2388532" y="2057400"/>
            <a:ext cx="25399" cy="13716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9" name="Shape 7"/>
          <p:cNvSpPr/>
          <p:nvPr/>
        </p:nvSpPr>
        <p:spPr>
          <a:xfrm>
            <a:off x="2017166" y="2340967"/>
            <a:ext cx="768033" cy="254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0" name="Shape 8"/>
          <p:cNvSpPr/>
          <p:nvPr/>
        </p:nvSpPr>
        <p:spPr>
          <a:xfrm rot="9164400">
            <a:off x="2016372" y="3509764"/>
            <a:ext cx="407184" cy="254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1" name="Shape 9"/>
          <p:cNvSpPr/>
          <p:nvPr/>
        </p:nvSpPr>
        <p:spPr>
          <a:xfrm rot="1594200">
            <a:off x="2379206" y="3509764"/>
            <a:ext cx="417105" cy="254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2" name="Shape 10"/>
          <p:cNvSpPr/>
          <p:nvPr/>
        </p:nvSpPr>
        <p:spPr>
          <a:xfrm rot="6210000">
            <a:off x="1767836" y="2632670"/>
            <a:ext cx="564243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3" name="Shape 11"/>
          <p:cNvSpPr/>
          <p:nvPr/>
        </p:nvSpPr>
        <p:spPr>
          <a:xfrm rot="4590000">
            <a:off x="1899595" y="2632670"/>
            <a:ext cx="564243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4" name="Shape 12"/>
          <p:cNvSpPr/>
          <p:nvPr/>
        </p:nvSpPr>
        <p:spPr>
          <a:xfrm>
            <a:off x="1918347" y="2907010"/>
            <a:ext cx="394881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5" name="Shape 13"/>
          <p:cNvSpPr/>
          <p:nvPr/>
        </p:nvSpPr>
        <p:spPr>
          <a:xfrm rot="2436000">
            <a:off x="1937892" y="2972891"/>
            <a:ext cx="202401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6" name="Shape 14"/>
          <p:cNvSpPr/>
          <p:nvPr/>
        </p:nvSpPr>
        <p:spPr>
          <a:xfrm rot="19164000">
            <a:off x="2091479" y="2972891"/>
            <a:ext cx="202401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7" name="Shape 15"/>
          <p:cNvSpPr/>
          <p:nvPr/>
        </p:nvSpPr>
        <p:spPr>
          <a:xfrm rot="6210000">
            <a:off x="2338428" y="2632670"/>
            <a:ext cx="564243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8" name="Shape 16"/>
          <p:cNvSpPr/>
          <p:nvPr/>
        </p:nvSpPr>
        <p:spPr>
          <a:xfrm rot="4590000">
            <a:off x="2470187" y="2632670"/>
            <a:ext cx="564243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9" name="Shape 17"/>
          <p:cNvSpPr/>
          <p:nvPr/>
        </p:nvSpPr>
        <p:spPr>
          <a:xfrm>
            <a:off x="2488939" y="2907010"/>
            <a:ext cx="394881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20" name="Shape 18"/>
          <p:cNvSpPr/>
          <p:nvPr/>
        </p:nvSpPr>
        <p:spPr>
          <a:xfrm rot="2436000">
            <a:off x="2508386" y="2972891"/>
            <a:ext cx="202401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21" name="Shape 19"/>
          <p:cNvSpPr/>
          <p:nvPr/>
        </p:nvSpPr>
        <p:spPr>
          <a:xfrm rot="19164000">
            <a:off x="2662072" y="2972891"/>
            <a:ext cx="202401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22" name="Text 20"/>
          <p:cNvSpPr/>
          <p:nvPr/>
        </p:nvSpPr>
        <p:spPr>
          <a:xfrm>
            <a:off x="700864" y="4039691"/>
            <a:ext cx="37187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kern="100" spc="-64" dirty="0">
                <a:solidFill>
                  <a:srgbClr val="FFFDF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Strings &amp; Files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017" y="4760416"/>
            <a:ext cx="320051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kern="100" spc="-54" dirty="0">
                <a:solidFill>
                  <a:srgbClr val="E0D6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5: string handling, library sorting and searching, file I/O.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1957" y="1691580"/>
            <a:ext cx="6355000" cy="1170384"/>
          </a:xfrm>
          <a:prstGeom prst="rect">
            <a:avLst/>
          </a:prstGeom>
          <a:solidFill>
            <a:srgbClr val="FFFDF8"/>
          </a:solidFill>
          <a:ln w="12700">
            <a:solidFill>
              <a:srgbClr val="E0D6C7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1957" y="1691580"/>
            <a:ext cx="82250" cy="1170384"/>
          </a:xfrm>
          <a:prstGeom prst="rect">
            <a:avLst/>
          </a:prstGeom>
          <a:solidFill>
            <a:srgbClr val="584333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157063" y="1901130"/>
            <a:ext cx="643437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100" spc="-60" dirty="0">
                <a:solidFill>
                  <a:srgbClr val="2D22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STRING PROCESSING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57063" y="2359323"/>
            <a:ext cx="58247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100" spc="-49" dirty="0">
                <a:solidFill>
                  <a:srgbClr val="685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Immutability, indexing, substring, comparison, searching; equals() vs ==; StringBuilder; split(), join(), trimming.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1957" y="3063280"/>
            <a:ext cx="6355000" cy="1170384"/>
          </a:xfrm>
          <a:prstGeom prst="rect">
            <a:avLst/>
          </a:prstGeom>
          <a:solidFill>
            <a:srgbClr val="FFFDF8"/>
          </a:solidFill>
          <a:ln w="12700">
            <a:solidFill>
              <a:srgbClr val="E0D6C7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1957" y="3063280"/>
            <a:ext cx="82250" cy="1170384"/>
          </a:xfrm>
          <a:prstGeom prst="rect">
            <a:avLst/>
          </a:prstGeom>
          <a:solidFill>
            <a:srgbClr val="584333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157063" y="3272830"/>
            <a:ext cx="643437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100" spc="-60" dirty="0">
                <a:solidFill>
                  <a:srgbClr val="2D22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SORTING &amp; SEARCHING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157063" y="3731121"/>
            <a:ext cx="643437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100" spc="-49" dirty="0">
                <a:solidFill>
                  <a:srgbClr val="685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Arrays.sort(), Collections.sort(), Arrays.binarySearch(); Comparable and Comparator.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91957" y="4434880"/>
            <a:ext cx="6355000" cy="1170384"/>
          </a:xfrm>
          <a:prstGeom prst="rect">
            <a:avLst/>
          </a:prstGeom>
          <a:solidFill>
            <a:srgbClr val="FFFDF8"/>
          </a:solidFill>
          <a:ln w="12700">
            <a:solidFill>
              <a:srgbClr val="E0D6C7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91957" y="4434880"/>
            <a:ext cx="82250" cy="1170384"/>
          </a:xfrm>
          <a:prstGeom prst="rect">
            <a:avLst/>
          </a:prstGeom>
          <a:solidFill>
            <a:srgbClr val="584333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157063" y="4644430"/>
            <a:ext cx="643437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100" spc="-60" dirty="0">
                <a:solidFill>
                  <a:srgbClr val="2D22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FILE INPUT &amp; OUTPUT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157063" y="5102721"/>
            <a:ext cx="58247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100" spc="-49" dirty="0">
                <a:solidFill>
                  <a:srgbClr val="685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Files and Path, buffered readers and writers, line-by-line processing, malformed records, try-with-resources.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134446" y="6489998"/>
            <a:ext cx="143268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900" b="1" kern="100" spc="-36" dirty="0">
                <a:solidFill>
                  <a:srgbClr val="685B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08  /  12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46526" y="5524500"/>
            <a:ext cx="6235544" cy="727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685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 flight codes; compare destinations and statuses; sort and search schedules.</a:t>
            </a:r>
            <a:endParaRPr lang="en-US" sz="1800" dirty="0"/>
          </a:p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685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saved records, append updates, and handle malformed files safely.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48567" y="6516787"/>
            <a:ext cx="324099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endParaRPr lang="en-US" sz="8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4A9D0CA-8FF0-9690-D6E5-6681458B2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13" y="105878"/>
            <a:ext cx="1435035" cy="7143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39235"/>
            <a:ext cx="12191695" cy="118864"/>
          </a:xfrm>
          <a:prstGeom prst="rect">
            <a:avLst/>
          </a:prstGeom>
          <a:solidFill>
            <a:srgbClr val="584333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64501" y="196056"/>
            <a:ext cx="11862495" cy="10120"/>
          </a:xfrm>
          <a:prstGeom prst="rect">
            <a:avLst/>
          </a:prstGeom>
          <a:solidFill>
            <a:srgbClr val="8F7A65"/>
          </a:solidFill>
          <a:ln/>
        </p:spPr>
      </p:sp>
      <p:sp>
        <p:nvSpPr>
          <p:cNvPr id="4" name="Text 2"/>
          <p:cNvSpPr/>
          <p:nvPr/>
        </p:nvSpPr>
        <p:spPr>
          <a:xfrm>
            <a:off x="639945" y="1806484"/>
            <a:ext cx="2834807" cy="143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50" b="1" kern="100" spc="20" dirty="0">
                <a:solidFill>
                  <a:srgbClr val="8F7A6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06</a:t>
            </a:r>
            <a:endParaRPr lang="en-US" sz="8550" dirty="0"/>
          </a:p>
        </p:txBody>
      </p:sp>
      <p:sp>
        <p:nvSpPr>
          <p:cNvPr id="5" name="Text 3"/>
          <p:cNvSpPr/>
          <p:nvPr/>
        </p:nvSpPr>
        <p:spPr>
          <a:xfrm>
            <a:off x="2971726" y="2045811"/>
            <a:ext cx="6675171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kern="100" spc="-109" dirty="0">
                <a:solidFill>
                  <a:srgbClr val="FFFDF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Functional Programming</a:t>
            </a:r>
            <a:endParaRPr lang="en-US" sz="2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700" b="1" kern="100" spc="-109" dirty="0">
                <a:solidFill>
                  <a:srgbClr val="FFFDF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with Collections &amp; Streams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017464" y="3556000"/>
            <a:ext cx="7020543" cy="9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300" kern="100" spc="-69" dirty="0">
                <a:solidFill>
                  <a:srgbClr val="E0D6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Lists, sets and maps: ArrayList, HashMap, HashSet, generics, autoboxing</a:t>
            </a:r>
            <a:endParaRPr lang="en-US" sz="1300" dirty="0"/>
          </a:p>
          <a:p>
            <a:pPr marL="0" indent="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300" kern="100" spc="-69" dirty="0">
                <a:solidFill>
                  <a:srgbClr val="E0D6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Iterators, lambda expressions, method references, functional interfaces</a:t>
            </a:r>
            <a:endParaRPr lang="en-US" sz="1300" dirty="0"/>
          </a:p>
          <a:p>
            <a:pPr marL="0" indent="0"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300" kern="100" spc="-69" dirty="0">
                <a:solidFill>
                  <a:srgbClr val="E0D6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Stream pipelines: filter, map, sorted, distinct, limit, forEach, collect, reduce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-69" dirty="0">
                <a:solidFill>
                  <a:srgbClr val="E0D6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Collectors (toList, groupingBy, counting, joining); reading file lines as a stream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502836" y="2286000"/>
            <a:ext cx="25399" cy="142875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8" name="Shape 6"/>
          <p:cNvSpPr/>
          <p:nvPr/>
        </p:nvSpPr>
        <p:spPr>
          <a:xfrm>
            <a:off x="10115495" y="2581970"/>
            <a:ext cx="800080" cy="254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9" name="Shape 7"/>
          <p:cNvSpPr/>
          <p:nvPr/>
        </p:nvSpPr>
        <p:spPr>
          <a:xfrm rot="9164400">
            <a:off x="10114899" y="3799284"/>
            <a:ext cx="424249" cy="254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0" name="Shape 8"/>
          <p:cNvSpPr/>
          <p:nvPr/>
        </p:nvSpPr>
        <p:spPr>
          <a:xfrm rot="1594200">
            <a:off x="10492517" y="3799284"/>
            <a:ext cx="434369" cy="254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1" name="Shape 9"/>
          <p:cNvSpPr/>
          <p:nvPr/>
        </p:nvSpPr>
        <p:spPr>
          <a:xfrm rot="6210000">
            <a:off x="9855946" y="2885479"/>
            <a:ext cx="587658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2" name="Shape 10"/>
          <p:cNvSpPr/>
          <p:nvPr/>
        </p:nvSpPr>
        <p:spPr>
          <a:xfrm rot="4590000">
            <a:off x="9993063" y="2885479"/>
            <a:ext cx="587658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12608" y="3171230"/>
            <a:ext cx="411450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4" name="Shape 12"/>
          <p:cNvSpPr/>
          <p:nvPr/>
        </p:nvSpPr>
        <p:spPr>
          <a:xfrm rot="2436000">
            <a:off x="10032947" y="3239889"/>
            <a:ext cx="210735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5" name="Shape 13"/>
          <p:cNvSpPr/>
          <p:nvPr/>
        </p:nvSpPr>
        <p:spPr>
          <a:xfrm rot="19164000">
            <a:off x="10192983" y="3239889"/>
            <a:ext cx="210735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6" name="Shape 14"/>
          <p:cNvSpPr/>
          <p:nvPr/>
        </p:nvSpPr>
        <p:spPr>
          <a:xfrm rot="6210000">
            <a:off x="10450252" y="2885479"/>
            <a:ext cx="587658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7" name="Shape 15"/>
          <p:cNvSpPr/>
          <p:nvPr/>
        </p:nvSpPr>
        <p:spPr>
          <a:xfrm rot="4590000">
            <a:off x="10587467" y="2885479"/>
            <a:ext cx="587658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8" name="Shape 16"/>
          <p:cNvSpPr/>
          <p:nvPr/>
        </p:nvSpPr>
        <p:spPr>
          <a:xfrm>
            <a:off x="10607013" y="3171230"/>
            <a:ext cx="411450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19" name="Shape 17"/>
          <p:cNvSpPr/>
          <p:nvPr/>
        </p:nvSpPr>
        <p:spPr>
          <a:xfrm rot="2436000">
            <a:off x="10627253" y="3239889"/>
            <a:ext cx="210735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20" name="Shape 18"/>
          <p:cNvSpPr/>
          <p:nvPr/>
        </p:nvSpPr>
        <p:spPr>
          <a:xfrm rot="19164000">
            <a:off x="10787289" y="3239889"/>
            <a:ext cx="210735" cy="12700"/>
          </a:xfrm>
          <a:prstGeom prst="rect">
            <a:avLst/>
          </a:prstGeom>
          <a:solidFill>
            <a:srgbClr val="C6B194"/>
          </a:solidFill>
          <a:ln/>
        </p:spPr>
      </p:sp>
      <p:sp>
        <p:nvSpPr>
          <p:cNvPr id="21" name="Text 19"/>
          <p:cNvSpPr/>
          <p:nvPr/>
        </p:nvSpPr>
        <p:spPr>
          <a:xfrm>
            <a:off x="548468" y="6510635"/>
            <a:ext cx="984513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134446" y="6489998"/>
            <a:ext cx="143268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900" b="1" kern="100" spc="-36" dirty="0">
                <a:solidFill>
                  <a:srgbClr val="E0D6C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09  /  12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028874" y="5397500"/>
            <a:ext cx="6997525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E0D6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flights in lists, maps and sets; filter by status or destination and sort by time.</a:t>
            </a:r>
            <a:endParaRPr lang="en-US" sz="1800" dirty="0"/>
          </a:p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E0D6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duplicates, group summaries, and generate reports from file lines as streams.</a:t>
            </a:r>
            <a:endParaRPr lang="en-US" sz="1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06E2111-C57B-CD9E-36A6-92C723394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13" y="322554"/>
            <a:ext cx="1435035" cy="7143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468" y="279896"/>
            <a:ext cx="424903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39945" y="876595"/>
            <a:ext cx="11506011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kern="100" spc="-93" dirty="0">
                <a:solidFill>
                  <a:srgbClr val="2D22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85684" y="1596132"/>
            <a:ext cx="1130817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kern="100" spc="-69" dirty="0">
                <a:solidFill>
                  <a:srgbClr val="685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applies core Java concepts from Modules 1–6 to an airport flight board scheduler.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783" y="2331641"/>
            <a:ext cx="3474752" cy="2697559"/>
          </a:xfrm>
          <a:prstGeom prst="rect">
            <a:avLst/>
          </a:prstGeom>
          <a:solidFill>
            <a:srgbClr val="FFFDF8"/>
          </a:solidFill>
          <a:ln w="12700">
            <a:solidFill>
              <a:srgbClr val="E0D6C7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783" y="2331641"/>
            <a:ext cx="82250" cy="2697559"/>
          </a:xfrm>
          <a:prstGeom prst="rect">
            <a:avLst/>
          </a:prstGeom>
          <a:solidFill>
            <a:srgbClr val="584333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534" y="2479673"/>
            <a:ext cx="423852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kern="100" spc="-97" dirty="0">
                <a:solidFill>
                  <a:srgbClr val="C6B19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44589" y="2541191"/>
            <a:ext cx="311519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100" spc="-60" dirty="0">
                <a:solidFill>
                  <a:srgbClr val="2D22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PROGRAMMING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44589" y="2999581"/>
            <a:ext cx="25056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100" spc="-49" dirty="0">
                <a:solidFill>
                  <a:srgbClr val="685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Computational thinking, data types, control flow and methods.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70774" y="2331641"/>
            <a:ext cx="3474752" cy="2697559"/>
          </a:xfrm>
          <a:prstGeom prst="rect">
            <a:avLst/>
          </a:prstGeom>
          <a:solidFill>
            <a:srgbClr val="FFFDF8"/>
          </a:solidFill>
          <a:ln w="12700">
            <a:solidFill>
              <a:srgbClr val="E0D6C7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70774" y="2331641"/>
            <a:ext cx="82250" cy="2697559"/>
          </a:xfrm>
          <a:prstGeom prst="rect">
            <a:avLst/>
          </a:prstGeom>
          <a:solidFill>
            <a:srgbClr val="584333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624" y="2479673"/>
            <a:ext cx="423852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kern="100" spc="-97" dirty="0">
                <a:solidFill>
                  <a:srgbClr val="C6B19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129679" y="2541191"/>
            <a:ext cx="311519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100" spc="-60" dirty="0">
                <a:solidFill>
                  <a:srgbClr val="2D22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&amp; STRUCTURE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29679" y="2999581"/>
            <a:ext cx="250560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100" spc="-49" dirty="0">
                <a:solidFill>
                  <a:srgbClr val="685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Arrays, strings, collections and streams store flight records, match flight codes and destinations, and keep schedule data organized.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64993" y="2331641"/>
            <a:ext cx="3474752" cy="2697559"/>
          </a:xfrm>
          <a:prstGeom prst="rect">
            <a:avLst/>
          </a:prstGeom>
          <a:solidFill>
            <a:srgbClr val="FFFDF8"/>
          </a:solidFill>
          <a:ln w="12700">
            <a:solidFill>
              <a:srgbClr val="E0D6C7"/>
            </a:solidFill>
            <a:prstDash val="solid"/>
          </a:ln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64993" y="2331641"/>
            <a:ext cx="82250" cy="2697559"/>
          </a:xfrm>
          <a:prstGeom prst="rect">
            <a:avLst/>
          </a:prstGeom>
          <a:solidFill>
            <a:srgbClr val="584333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11843" y="2479673"/>
            <a:ext cx="423852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kern="100" spc="-97" dirty="0">
                <a:solidFill>
                  <a:srgbClr val="C6B19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823898" y="2541191"/>
            <a:ext cx="311519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100" spc="-60" dirty="0">
                <a:solidFill>
                  <a:srgbClr val="2D22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 &amp; ERRORS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823898" y="2999581"/>
            <a:ext cx="250560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100" spc="-49" dirty="0">
                <a:solidFill>
                  <a:srgbClr val="685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Flight, AirportBoard and Scheduler classes with encapsulation, inheritance and exceptions for invalid input, missing records and safe updates.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3747" y="5511105"/>
            <a:ext cx="1112531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kern="100" spc="-52" dirty="0">
                <a:solidFill>
                  <a:srgbClr val="584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TAKEAWAY: modular, object-oriented Java for flight scheduling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69073" y="6575723"/>
            <a:ext cx="143268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900" b="1" kern="100" spc="-36" dirty="0">
                <a:solidFill>
                  <a:srgbClr val="685B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  /  12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80048" y="5080000"/>
            <a:ext cx="110995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685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Possible extensions, not yet implemented: flight alerts and a graphical interface.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567" y="6516787"/>
            <a:ext cx="324099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endParaRPr lang="en-US" sz="8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15679FE-30B6-F939-490F-7054E53D6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13" y="105878"/>
            <a:ext cx="1435035" cy="7143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468" y="279896"/>
            <a:ext cx="424903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39945" y="863084"/>
            <a:ext cx="11506011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25128" y="115503"/>
            <a:ext cx="11935327" cy="6670307"/>
          </a:xfrm>
          <a:prstGeom prst="rect">
            <a:avLst/>
          </a:prstGeom>
          <a:solidFill>
            <a:srgbClr val="2D221B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017" y="1982097"/>
            <a:ext cx="1828853" cy="944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endParaRPr lang="en-US" sz="5650" dirty="0"/>
          </a:p>
        </p:txBody>
      </p:sp>
      <p:sp>
        <p:nvSpPr>
          <p:cNvPr id="7" name="Text 5"/>
          <p:cNvSpPr/>
          <p:nvPr/>
        </p:nvSpPr>
        <p:spPr>
          <a:xfrm>
            <a:off x="1005656" y="3746599"/>
            <a:ext cx="347485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656" y="4591050"/>
            <a:ext cx="356632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08656" y="4827389"/>
            <a:ext cx="533714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08656" y="5285581"/>
            <a:ext cx="533714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100" spc="-49" dirty="0">
                <a:solidFill>
                  <a:srgbClr val="685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134446" y="6489998"/>
            <a:ext cx="143268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900" b="1" kern="100" spc="-36" dirty="0">
                <a:solidFill>
                  <a:srgbClr val="685B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11  /  12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567" y="6516787"/>
            <a:ext cx="324099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endParaRPr lang="en-US" sz="8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FDAECFE-0925-41FF-A351-4ED933DC7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008" y="279896"/>
            <a:ext cx="11559941" cy="638155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6A4A998-2FF4-A940-2A5C-6E8AABBE9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545" y="97637"/>
            <a:ext cx="732273" cy="36451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DDCE5-2A4D-9FFF-5DB7-8FCA024B4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6B8D59E-D185-3828-CD6D-4F98FD224D89}"/>
              </a:ext>
            </a:extLst>
          </p:cNvPr>
          <p:cNvSpPr/>
          <p:nvPr/>
        </p:nvSpPr>
        <p:spPr>
          <a:xfrm>
            <a:off x="548468" y="279896"/>
            <a:ext cx="424903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640A22F-ED08-8C36-736F-1171FD4B860A}"/>
              </a:ext>
            </a:extLst>
          </p:cNvPr>
          <p:cNvSpPr/>
          <p:nvPr/>
        </p:nvSpPr>
        <p:spPr>
          <a:xfrm>
            <a:off x="639945" y="863084"/>
            <a:ext cx="11506011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AF03268-CFED-F97B-8463-223238786DD7}"/>
              </a:ext>
            </a:extLst>
          </p:cNvPr>
          <p:cNvSpPr/>
          <p:nvPr/>
        </p:nvSpPr>
        <p:spPr>
          <a:xfrm>
            <a:off x="125128" y="115503"/>
            <a:ext cx="11935327" cy="6670307"/>
          </a:xfrm>
          <a:prstGeom prst="rect">
            <a:avLst/>
          </a:prstGeom>
          <a:solidFill>
            <a:srgbClr val="2D221B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2E43B19-7D1F-316A-FB0D-87F7D383A0EC}"/>
              </a:ext>
            </a:extLst>
          </p:cNvPr>
          <p:cNvSpPr/>
          <p:nvPr/>
        </p:nvSpPr>
        <p:spPr>
          <a:xfrm>
            <a:off x="960017" y="1982097"/>
            <a:ext cx="1828853" cy="944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endParaRPr lang="en-US" sz="56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12DD93-2467-8E19-B03C-2FDEC977ABB4}"/>
              </a:ext>
            </a:extLst>
          </p:cNvPr>
          <p:cNvSpPr/>
          <p:nvPr/>
        </p:nvSpPr>
        <p:spPr>
          <a:xfrm>
            <a:off x="1005656" y="3746599"/>
            <a:ext cx="347485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2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369D4D4-D29E-F168-15CC-39B47F855202}"/>
              </a:ext>
            </a:extLst>
          </p:cNvPr>
          <p:cNvSpPr/>
          <p:nvPr/>
        </p:nvSpPr>
        <p:spPr>
          <a:xfrm>
            <a:off x="1005656" y="4591050"/>
            <a:ext cx="356632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endParaRPr lang="en-US" sz="13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F6E90BC-6D0F-C51A-D39D-33ADD8075E06}"/>
              </a:ext>
            </a:extLst>
          </p:cNvPr>
          <p:cNvSpPr/>
          <p:nvPr/>
        </p:nvSpPr>
        <p:spPr>
          <a:xfrm>
            <a:off x="6208656" y="4827389"/>
            <a:ext cx="533714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15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D28B8A1-9C61-7ED9-C64F-5E29A8592ECC}"/>
              </a:ext>
            </a:extLst>
          </p:cNvPr>
          <p:cNvSpPr/>
          <p:nvPr/>
        </p:nvSpPr>
        <p:spPr>
          <a:xfrm>
            <a:off x="6208656" y="5285581"/>
            <a:ext cx="533714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100" spc="-49" dirty="0">
                <a:solidFill>
                  <a:srgbClr val="685B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C9BE0AD-3F90-86B5-1EC6-3B655FED5B6F}"/>
              </a:ext>
            </a:extLst>
          </p:cNvPr>
          <p:cNvSpPr/>
          <p:nvPr/>
        </p:nvSpPr>
        <p:spPr>
          <a:xfrm>
            <a:off x="10134446" y="6489998"/>
            <a:ext cx="143268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900" b="1" kern="100" spc="-36" dirty="0">
                <a:solidFill>
                  <a:srgbClr val="685B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11  /  12</a:t>
            </a:r>
            <a:endParaRPr lang="en-US" sz="9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05066F4-7C6A-0F63-834B-F7687A1E8B34}"/>
              </a:ext>
            </a:extLst>
          </p:cNvPr>
          <p:cNvSpPr/>
          <p:nvPr/>
        </p:nvSpPr>
        <p:spPr>
          <a:xfrm>
            <a:off x="548567" y="6516787"/>
            <a:ext cx="324099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endParaRPr lang="en-US" sz="8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AD2E043-C656-F55C-617E-577216ACD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349" y="194207"/>
            <a:ext cx="1343336" cy="6686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29CDC3-5A0E-43B0-73A3-248B1850C4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626" y="279896"/>
            <a:ext cx="5143500" cy="61159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F11729-79A8-2468-F3BD-A4E8514A2C57}"/>
              </a:ext>
            </a:extLst>
          </p:cNvPr>
          <p:cNvSpPr txBox="1"/>
          <p:nvPr/>
        </p:nvSpPr>
        <p:spPr>
          <a:xfrm>
            <a:off x="1863637" y="2926560"/>
            <a:ext cx="62087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GITHUB LINK :- https://github.com/sahasra-grandhi/KLH_CSE_PSPJAVA_T24_AFBS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7040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3967" y="383977"/>
            <a:ext cx="11429912" cy="6089948"/>
          </a:xfrm>
          <a:prstGeom prst="rect">
            <a:avLst/>
          </a:prstGeom>
          <a:solidFill>
            <a:srgbClr val="584333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66823" y="566837"/>
            <a:ext cx="11064201" cy="5724227"/>
          </a:xfrm>
          <a:prstGeom prst="rect">
            <a:avLst/>
          </a:prstGeom>
          <a:solidFill>
            <a:srgbClr val="2D221B"/>
          </a:solidFill>
          <a:ln/>
          <a:effectLst>
            <a:outerShdw blurRad="39370" dist="2286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874394" y="2988960"/>
            <a:ext cx="8458385" cy="57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endParaRPr lang="en-US" sz="3450" dirty="0"/>
          </a:p>
        </p:txBody>
      </p:sp>
      <p:sp>
        <p:nvSpPr>
          <p:cNvPr id="19" name="Text 17"/>
          <p:cNvSpPr/>
          <p:nvPr/>
        </p:nvSpPr>
        <p:spPr>
          <a:xfrm>
            <a:off x="1874394" y="2591096"/>
            <a:ext cx="8458385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0" dirty="0">
                <a:solidFill>
                  <a:schemeClr val="accent4">
                    <a:lumMod val="20000"/>
                    <a:lumOff val="8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THANK YOU</a:t>
            </a:r>
          </a:p>
          <a:p>
            <a:pPr marL="0" indent="0" algn="ctr">
              <a:lnSpc>
                <a:spcPct val="100000"/>
              </a:lnSpc>
              <a:buNone/>
            </a:pP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2484078" y="4962525"/>
            <a:ext cx="723901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84078" y="5918498"/>
            <a:ext cx="723901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2166CA8-7A80-015F-BAB8-B9A4F5318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396" y="662141"/>
            <a:ext cx="912814" cy="4543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951</Words>
  <Application>Microsoft Office PowerPoint</Application>
  <PresentationFormat>Widescreen</PresentationFormat>
  <Paragraphs>129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Cascadia Code</vt:lpstr>
      <vt:lpstr>Arial</vt:lpstr>
      <vt:lpstr>Inter Bold</vt:lpstr>
      <vt:lpstr>Courier New</vt:lpstr>
      <vt:lpstr>Bookman Old Style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G. Sai Sahasra</cp:lastModifiedBy>
  <cp:revision>3</cp:revision>
  <dcterms:created xsi:type="dcterms:W3CDTF">2026-10-15T17:27:03Z</dcterms:created>
  <dcterms:modified xsi:type="dcterms:W3CDTF">2026-10-15T20:31:02Z</dcterms:modified>
</cp:coreProperties>
</file>